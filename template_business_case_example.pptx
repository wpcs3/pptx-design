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8"/>
  </p:notesMasterIdLst>
  <p:handoutMasterIdLst>
    <p:handoutMasterId r:id="rId9"/>
  </p:handoutMasterIdLst>
  <p:sldIdLst>
    <p:sldId id="2147471492" r:id="rId2"/>
    <p:sldId id="2147472387" r:id="rId3"/>
    <p:sldId id="2147472290" r:id="rId4"/>
    <p:sldId id="2147471262" r:id="rId5"/>
    <p:sldId id="2147472153" r:id="rId6"/>
    <p:sldId id="2147471131" r:id="rId7"/>
  </p:sldIdLst>
  <p:sldSz cx="12192000" cy="6858000"/>
  <p:notesSz cx="6858000" cy="9144000"/>
  <p:custDataLst>
    <p:tags r:id="rId10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75" d="100"/>
          <a:sy n="75" d="100"/>
        </p:scale>
        <p:origin x="43" y="53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[Answer 1]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E2-8345-BCCE-F15DD9EA73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[Answer 2]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E2-8345-BCCE-F15DD9EA73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[Answer 3]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38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E2-8345-BCCE-F15DD9EA733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[Answer 4]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BE2-8345-BCCE-F15DD9EA733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36203855"/>
        <c:axId val="1400043375"/>
      </c:barChart>
      <c:catAx>
        <c:axId val="1436203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DK"/>
          </a:p>
        </c:txPr>
        <c:crossAx val="1400043375"/>
        <c:crosses val="autoZero"/>
        <c:auto val="1"/>
        <c:lblAlgn val="ctr"/>
        <c:lblOffset val="100"/>
        <c:noMultiLvlLbl val="0"/>
      </c:catAx>
      <c:valAx>
        <c:axId val="140004337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36203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raphik Regular" panose="020B0503030202060203" pitchFamily="34" charset="77"/>
        </a:defRPr>
      </a:pPr>
      <a:endParaRPr lang="en-D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19-F04D-9D6F-B0E2A825F1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[Answer 1]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19-F04D-9D6F-B0E2A825F1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[Answer 2]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17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19-F04D-9D6F-B0E2A825F18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[Answer 3]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19-F04D-9D6F-B0E2A825F18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[Answer 4]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raphik Regular" panose="020B0503030202060203" pitchFamily="34" charset="77"/>
                    <a:ea typeface="+mn-ea"/>
                    <a:cs typeface="+mn-cs"/>
                  </a:defRPr>
                </a:pPr>
                <a:endParaRPr lang="en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[Segment 1]</c:v>
                </c:pt>
                <c:pt idx="1">
                  <c:v>[Segment 2]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B7C3-F74D-9E31-4500571957B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36203855"/>
        <c:axId val="1400043375"/>
      </c:barChart>
      <c:catAx>
        <c:axId val="1436203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DK"/>
          </a:p>
        </c:txPr>
        <c:crossAx val="1400043375"/>
        <c:crosses val="autoZero"/>
        <c:auto val="1"/>
        <c:lblAlgn val="ctr"/>
        <c:lblOffset val="100"/>
        <c:noMultiLvlLbl val="0"/>
      </c:catAx>
      <c:valAx>
        <c:axId val="140004337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436203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raphik Regular" panose="020B0503030202060203" pitchFamily="34" charset="77"/>
        </a:defRPr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12/22/2025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12/22/2025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4571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18" Type="http://schemas.openxmlformats.org/officeDocument/2006/relationships/tags" Target="../tags/tag11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10" Type="http://schemas.openxmlformats.org/officeDocument/2006/relationships/tags" Target="../tags/tag111.xml"/><Relationship Id="rId19" Type="http://schemas.openxmlformats.org/officeDocument/2006/relationships/tags" Target="../tags/tag120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tags" Target="../tags/tag156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10" Type="http://schemas.openxmlformats.org/officeDocument/2006/relationships/tags" Target="../tags/tag148.xml"/><Relationship Id="rId19" Type="http://schemas.openxmlformats.org/officeDocument/2006/relationships/tags" Target="../tags/tag157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tags" Target="../tags/tag170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8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9.xml"/><Relationship Id="rId9" Type="http://schemas.openxmlformats.org/officeDocument/2006/relationships/tags" Target="../tags/tag19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5" Type="http://schemas.openxmlformats.org/officeDocument/2006/relationships/tags" Target="../tags/tag223.xml"/><Relationship Id="rId10" Type="http://schemas.openxmlformats.org/officeDocument/2006/relationships/tags" Target="../tags/tag218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tags" Target="../tags/tag238.xml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2" Type="http://schemas.openxmlformats.org/officeDocument/2006/relationships/tags" Target="../tags/tag227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5" Type="http://schemas.openxmlformats.org/officeDocument/2006/relationships/tags" Target="../tags/tag230.xml"/><Relationship Id="rId15" Type="http://schemas.openxmlformats.org/officeDocument/2006/relationships/tags" Target="../tags/tag240.xml"/><Relationship Id="rId10" Type="http://schemas.openxmlformats.org/officeDocument/2006/relationships/tags" Target="../tags/tag235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tags" Target="../tags/tag239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13" Type="http://schemas.openxmlformats.org/officeDocument/2006/relationships/tags" Target="../tags/tag25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12" Type="http://schemas.openxmlformats.org/officeDocument/2006/relationships/tags" Target="../tags/tag252.xml"/><Relationship Id="rId17" Type="http://schemas.openxmlformats.org/officeDocument/2006/relationships/tags" Target="../tags/tag257.xml"/><Relationship Id="rId2" Type="http://schemas.openxmlformats.org/officeDocument/2006/relationships/tags" Target="../tags/tag242.xml"/><Relationship Id="rId16" Type="http://schemas.openxmlformats.org/officeDocument/2006/relationships/tags" Target="../tags/tag256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tags" Target="../tags/tag251.xml"/><Relationship Id="rId5" Type="http://schemas.openxmlformats.org/officeDocument/2006/relationships/tags" Target="../tags/tag245.xml"/><Relationship Id="rId15" Type="http://schemas.openxmlformats.org/officeDocument/2006/relationships/tags" Target="../tags/tag255.xml"/><Relationship Id="rId10" Type="http://schemas.openxmlformats.org/officeDocument/2006/relationships/tags" Target="../tags/tag250.xml"/><Relationship Id="rId4" Type="http://schemas.openxmlformats.org/officeDocument/2006/relationships/tags" Target="../tags/tag244.xml"/><Relationship Id="rId9" Type="http://schemas.openxmlformats.org/officeDocument/2006/relationships/tags" Target="../tags/tag249.xml"/><Relationship Id="rId14" Type="http://schemas.openxmlformats.org/officeDocument/2006/relationships/tags" Target="../tags/tag254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18" Type="http://schemas.openxmlformats.org/officeDocument/2006/relationships/tags" Target="../tags/tag275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17" Type="http://schemas.openxmlformats.org/officeDocument/2006/relationships/tags" Target="../tags/tag274.xml"/><Relationship Id="rId2" Type="http://schemas.openxmlformats.org/officeDocument/2006/relationships/tags" Target="../tags/tag259.xml"/><Relationship Id="rId16" Type="http://schemas.openxmlformats.org/officeDocument/2006/relationships/tags" Target="../tags/tag273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tags" Target="../tags/tag272.xml"/><Relationship Id="rId10" Type="http://schemas.openxmlformats.org/officeDocument/2006/relationships/tags" Target="../tags/tag267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tags" Target="../tags/tag27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3.xml"/><Relationship Id="rId13" Type="http://schemas.openxmlformats.org/officeDocument/2006/relationships/tags" Target="../tags/tag28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8.xml"/><Relationship Id="rId7" Type="http://schemas.openxmlformats.org/officeDocument/2006/relationships/tags" Target="../tags/tag282.xml"/><Relationship Id="rId12" Type="http://schemas.openxmlformats.org/officeDocument/2006/relationships/tags" Target="../tags/tag287.xml"/><Relationship Id="rId17" Type="http://schemas.openxmlformats.org/officeDocument/2006/relationships/tags" Target="../tags/tag292.xml"/><Relationship Id="rId2" Type="http://schemas.openxmlformats.org/officeDocument/2006/relationships/tags" Target="../tags/tag277.xml"/><Relationship Id="rId16" Type="http://schemas.openxmlformats.org/officeDocument/2006/relationships/tags" Target="../tags/tag291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tags" Target="../tags/tag286.xml"/><Relationship Id="rId5" Type="http://schemas.openxmlformats.org/officeDocument/2006/relationships/tags" Target="../tags/tag280.xml"/><Relationship Id="rId15" Type="http://schemas.openxmlformats.org/officeDocument/2006/relationships/tags" Target="../tags/tag290.xml"/><Relationship Id="rId10" Type="http://schemas.openxmlformats.org/officeDocument/2006/relationships/tags" Target="../tags/tag285.xml"/><Relationship Id="rId4" Type="http://schemas.openxmlformats.org/officeDocument/2006/relationships/tags" Target="../tags/tag279.xml"/><Relationship Id="rId9" Type="http://schemas.openxmlformats.org/officeDocument/2006/relationships/tags" Target="../tags/tag284.xml"/><Relationship Id="rId14" Type="http://schemas.openxmlformats.org/officeDocument/2006/relationships/tags" Target="../tags/tag28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0.xml"/><Relationship Id="rId13" Type="http://schemas.openxmlformats.org/officeDocument/2006/relationships/tags" Target="../tags/tag305.xml"/><Relationship Id="rId3" Type="http://schemas.openxmlformats.org/officeDocument/2006/relationships/tags" Target="../tags/tag295.xml"/><Relationship Id="rId7" Type="http://schemas.openxmlformats.org/officeDocument/2006/relationships/tags" Target="../tags/tag299.xml"/><Relationship Id="rId12" Type="http://schemas.openxmlformats.org/officeDocument/2006/relationships/tags" Target="../tags/tag304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tags" Target="../tags/tag303.xml"/><Relationship Id="rId5" Type="http://schemas.openxmlformats.org/officeDocument/2006/relationships/tags" Target="../tags/tag297.xml"/><Relationship Id="rId10" Type="http://schemas.openxmlformats.org/officeDocument/2006/relationships/tags" Target="../tags/tag302.xml"/><Relationship Id="rId4" Type="http://schemas.openxmlformats.org/officeDocument/2006/relationships/tags" Target="../tags/tag296.xml"/><Relationship Id="rId9" Type="http://schemas.openxmlformats.org/officeDocument/2006/relationships/tags" Target="../tags/tag301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19.xml"/><Relationship Id="rId13" Type="http://schemas.openxmlformats.org/officeDocument/2006/relationships/tags" Target="../tags/tag32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4.xml"/><Relationship Id="rId7" Type="http://schemas.openxmlformats.org/officeDocument/2006/relationships/tags" Target="../tags/tag318.xml"/><Relationship Id="rId12" Type="http://schemas.openxmlformats.org/officeDocument/2006/relationships/tags" Target="../tags/tag323.xml"/><Relationship Id="rId17" Type="http://schemas.openxmlformats.org/officeDocument/2006/relationships/tags" Target="../tags/tag328.xml"/><Relationship Id="rId2" Type="http://schemas.openxmlformats.org/officeDocument/2006/relationships/tags" Target="../tags/tag313.xml"/><Relationship Id="rId16" Type="http://schemas.openxmlformats.org/officeDocument/2006/relationships/tags" Target="../tags/tag327.xml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tags" Target="../tags/tag322.xml"/><Relationship Id="rId5" Type="http://schemas.openxmlformats.org/officeDocument/2006/relationships/tags" Target="../tags/tag316.xml"/><Relationship Id="rId15" Type="http://schemas.openxmlformats.org/officeDocument/2006/relationships/tags" Target="../tags/tag326.xml"/><Relationship Id="rId10" Type="http://schemas.openxmlformats.org/officeDocument/2006/relationships/tags" Target="../tags/tag321.xml"/><Relationship Id="rId4" Type="http://schemas.openxmlformats.org/officeDocument/2006/relationships/tags" Target="../tags/tag315.xml"/><Relationship Id="rId9" Type="http://schemas.openxmlformats.org/officeDocument/2006/relationships/tags" Target="../tags/tag320.xml"/><Relationship Id="rId14" Type="http://schemas.openxmlformats.org/officeDocument/2006/relationships/tags" Target="../tags/tag3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8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50" Type="http://schemas.openxmlformats.org/officeDocument/2006/relationships/tags" Target="../tags/tag24.xml"/><Relationship Id="rId55" Type="http://schemas.openxmlformats.org/officeDocument/2006/relationships/tags" Target="../tags/tag29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3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3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9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/>
          <a:lstStyle/>
          <a:p>
            <a:r>
              <a:rPr lang="en-US" sz="4800" dirty="0"/>
              <a:t>Executive 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B643-C49A-0B52-D16E-3F2B8EFC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9EA9EBA-0AAC-813B-5112-6F3FA266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Executive summary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B89F56FC-6F3C-D3C8-ADDD-45E9A123C4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Slideworks guide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D26195-41B8-45D2-2CC4-A5CCA1E67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00ACC-400D-B53D-F01D-68ED8384D7EF}"/>
              </a:ext>
            </a:extLst>
          </p:cNvPr>
          <p:cNvSpPr/>
          <p:nvPr/>
        </p:nvSpPr>
        <p:spPr>
          <a:xfrm>
            <a:off x="3733890" y="1447711"/>
            <a:ext cx="7903373" cy="1133372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What: </a:t>
            </a:r>
            <a:b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310E0-DB44-3999-073E-9E8A15953981}"/>
              </a:ext>
            </a:extLst>
          </p:cNvPr>
          <p:cNvSpPr/>
          <p:nvPr/>
        </p:nvSpPr>
        <p:spPr>
          <a:xfrm>
            <a:off x="3733890" y="2720757"/>
            <a:ext cx="7903373" cy="1133372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Why: </a:t>
            </a:r>
            <a:b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Grab your audience’s attention up front and paint a compelling story so they are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predisposed to what your “answer” is and what they need to decide on</a:t>
            </a:r>
            <a:endParaRPr lang="en-US" sz="160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1B8027-2582-3516-A3F4-A13561241B50}"/>
              </a:ext>
            </a:extLst>
          </p:cNvPr>
          <p:cNvSpPr/>
          <p:nvPr/>
        </p:nvSpPr>
        <p:spPr>
          <a:xfrm>
            <a:off x="3733890" y="3993803"/>
            <a:ext cx="7903373" cy="229269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situation-complication-resolution framework to draft 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riefly describe the overall context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(situation)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problem / opportunity your business case will address (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 your intended solution and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other options you reviewed, if relevant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list benefits including financial benefits like ROI or NPV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describe next steps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73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D5114-80E6-FC21-1A36-7A0665D1284D}"/>
              </a:ext>
            </a:extLst>
          </p:cNvPr>
          <p:cNvSpPr/>
          <p:nvPr/>
        </p:nvSpPr>
        <p:spPr>
          <a:xfrm>
            <a:off x="554736" y="163068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Vision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B6656-43BB-EAC4-7A15-7C9D3D23D823}"/>
              </a:ext>
            </a:extLst>
          </p:cNvPr>
          <p:cNvSpPr/>
          <p:nvPr/>
        </p:nvSpPr>
        <p:spPr>
          <a:xfrm>
            <a:off x="554736" y="281940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Strategic objective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D79FB-8156-0AFF-4870-4FEA3EB06BFD}"/>
              </a:ext>
            </a:extLst>
          </p:cNvPr>
          <p:cNvSpPr/>
          <p:nvPr/>
        </p:nvSpPr>
        <p:spPr>
          <a:xfrm>
            <a:off x="554736" y="400812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A5FBB-949D-45F8-E23E-0169D1AC51FA}"/>
              </a:ext>
            </a:extLst>
          </p:cNvPr>
          <p:cNvSpPr/>
          <p:nvPr/>
        </p:nvSpPr>
        <p:spPr>
          <a:xfrm>
            <a:off x="554736" y="519684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Sponsor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88B2B-9254-9BF3-E63B-03D2A08761C6}"/>
              </a:ext>
            </a:extLst>
          </p:cNvPr>
          <p:cNvSpPr/>
          <p:nvPr/>
        </p:nvSpPr>
        <p:spPr>
          <a:xfrm>
            <a:off x="2246376" y="163068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vision for proposed project including qualitative and quantitative benefits]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CC986-B4E0-C524-85EE-669493FF0F2F}"/>
              </a:ext>
            </a:extLst>
          </p:cNvPr>
          <p:cNvSpPr/>
          <p:nvPr/>
        </p:nvSpPr>
        <p:spPr>
          <a:xfrm>
            <a:off x="2246376" y="281940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C3C5D-48EA-F491-712A-51BF4B4DB586}"/>
              </a:ext>
            </a:extLst>
          </p:cNvPr>
          <p:cNvSpPr/>
          <p:nvPr/>
        </p:nvSpPr>
        <p:spPr>
          <a:xfrm>
            <a:off x="2246376" y="400812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brief description of suggested solution]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D4BDC-EB2E-3DF2-717F-6C146E076BB0}"/>
              </a:ext>
            </a:extLst>
          </p:cNvPr>
          <p:cNvSpPr/>
          <p:nvPr/>
        </p:nvSpPr>
        <p:spPr>
          <a:xfrm>
            <a:off x="2246376" y="519684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person, team, department, BU or similar who will sponsor the business case]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FFA93C-F7F1-DF60-B73C-96AFCD4729F7}"/>
              </a:ext>
            </a:extLst>
          </p:cNvPr>
          <p:cNvCxnSpPr>
            <a:cxnSpLocks/>
          </p:cNvCxnSpPr>
          <p:nvPr/>
        </p:nvCxnSpPr>
        <p:spPr>
          <a:xfrm>
            <a:off x="554736" y="275653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EA6BE2-4645-4F44-B91D-5AE08E702A3C}"/>
              </a:ext>
            </a:extLst>
          </p:cNvPr>
          <p:cNvCxnSpPr>
            <a:cxnSpLocks/>
          </p:cNvCxnSpPr>
          <p:nvPr/>
        </p:nvCxnSpPr>
        <p:spPr>
          <a:xfrm>
            <a:off x="554736" y="394525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ED5210-88B3-D094-5E8F-B050EB54D1DE}"/>
              </a:ext>
            </a:extLst>
          </p:cNvPr>
          <p:cNvCxnSpPr>
            <a:cxnSpLocks/>
          </p:cNvCxnSpPr>
          <p:nvPr/>
        </p:nvCxnSpPr>
        <p:spPr>
          <a:xfrm>
            <a:off x="554736" y="513397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08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0D799A-556F-39B3-C238-55DA4835B7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319E67-2518-CF13-8F57-BAF450306D10}"/>
              </a:ext>
            </a:extLst>
          </p:cNvPr>
          <p:cNvSpPr/>
          <p:nvPr/>
        </p:nvSpPr>
        <p:spPr>
          <a:xfrm>
            <a:off x="550864" y="136888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1BFF1-6A16-0A82-1E8A-CE50EB88E00E}"/>
              </a:ext>
            </a:extLst>
          </p:cNvPr>
          <p:cNvSpPr/>
          <p:nvPr/>
        </p:nvSpPr>
        <p:spPr>
          <a:xfrm>
            <a:off x="550864" y="1778000"/>
            <a:ext cx="3429000" cy="442068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background/reasons for starting project]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bullet points on business need/opportunity/problem]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bullet points on business need/opportunity/problem]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30BB9F-031E-3C6B-43A7-C9A7CEE5110F}"/>
              </a:ext>
            </a:extLst>
          </p:cNvPr>
          <p:cNvSpPr/>
          <p:nvPr/>
        </p:nvSpPr>
        <p:spPr>
          <a:xfrm>
            <a:off x="4379406" y="1778000"/>
            <a:ext cx="3431094" cy="4420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We have identified three possible options: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1]: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2]: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3]: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F6AA15-3304-294C-852C-1C2E59EF520A}"/>
              </a:ext>
            </a:extLst>
          </p:cNvPr>
          <p:cNvSpPr/>
          <p:nvPr/>
        </p:nvSpPr>
        <p:spPr>
          <a:xfrm>
            <a:off x="8210042" y="1778000"/>
            <a:ext cx="3431094" cy="44206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We recommend option [insert]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Project can be implemented over [xx] months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Immediate next steps: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next steps]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5143860-2055-99AF-C786-22F787956D7D}"/>
              </a:ext>
            </a:extLst>
          </p:cNvPr>
          <p:cNvSpPr/>
          <p:nvPr/>
        </p:nvSpPr>
        <p:spPr>
          <a:xfrm>
            <a:off x="4379406" y="1368884"/>
            <a:ext cx="89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38454E-7E61-F428-921E-AEC35137B305}"/>
              </a:ext>
            </a:extLst>
          </p:cNvPr>
          <p:cNvSpPr/>
          <p:nvPr/>
        </p:nvSpPr>
        <p:spPr>
          <a:xfrm>
            <a:off x="8210042" y="1368884"/>
            <a:ext cx="29867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Recommendation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337823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361A-B5A7-DCDA-6428-E9E3AC04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7DEF7-65C1-DE17-3767-559386036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318966"/>
            <a:ext cx="11082528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F6960-0278-1FCF-4A5E-1E9CEC4DD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reeform: Shape 8241">
            <a:extLst>
              <a:ext uri="{FF2B5EF4-FFF2-40B4-BE49-F238E27FC236}">
                <a16:creationId xmlns:a16="http://schemas.microsoft.com/office/drawing/2014/main" id="{748DB74A-6C36-74EB-F995-EF644B38CB2D}"/>
              </a:ext>
            </a:extLst>
          </p:cNvPr>
          <p:cNvSpPr/>
          <p:nvPr/>
        </p:nvSpPr>
        <p:spPr>
          <a:xfrm>
            <a:off x="554736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Problem/opportunity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underlying problem or opportunity this business case is responding to]</a:t>
            </a:r>
          </a:p>
        </p:txBody>
      </p:sp>
      <p:sp>
        <p:nvSpPr>
          <p:cNvPr id="26" name="Freeform: Shape 8241">
            <a:extLst>
              <a:ext uri="{FF2B5EF4-FFF2-40B4-BE49-F238E27FC236}">
                <a16:creationId xmlns:a16="http://schemas.microsoft.com/office/drawing/2014/main" id="{1A02BCC4-46D3-FA76-5CE8-0BA7D61626EF}"/>
              </a:ext>
            </a:extLst>
          </p:cNvPr>
          <p:cNvSpPr/>
          <p:nvPr/>
        </p:nvSpPr>
        <p:spPr>
          <a:xfrm>
            <a:off x="3508744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Solution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suggested solution to the problem / opportunity]</a:t>
            </a:r>
          </a:p>
        </p:txBody>
      </p:sp>
      <p:sp>
        <p:nvSpPr>
          <p:cNvPr id="27" name="Freeform: Shape 8241">
            <a:extLst>
              <a:ext uri="{FF2B5EF4-FFF2-40B4-BE49-F238E27FC236}">
                <a16:creationId xmlns:a16="http://schemas.microsoft.com/office/drawing/2014/main" id="{3618E085-E242-DB74-5082-796228E0A98B}"/>
              </a:ext>
            </a:extLst>
          </p:cNvPr>
          <p:cNvSpPr/>
          <p:nvPr/>
        </p:nvSpPr>
        <p:spPr>
          <a:xfrm>
            <a:off x="6462752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Outcomes 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outcomes and benefits that can expected from successfully addressing the problem / opportunity]</a:t>
            </a:r>
          </a:p>
        </p:txBody>
      </p:sp>
      <p:sp>
        <p:nvSpPr>
          <p:cNvPr id="28" name="Freeform: Shape 8241">
            <a:extLst>
              <a:ext uri="{FF2B5EF4-FFF2-40B4-BE49-F238E27FC236}">
                <a16:creationId xmlns:a16="http://schemas.microsoft.com/office/drawing/2014/main" id="{1157CB7A-8BCA-C9F0-20D9-7ED999677121}"/>
              </a:ext>
            </a:extLst>
          </p:cNvPr>
          <p:cNvSpPr/>
          <p:nvPr/>
        </p:nvSpPr>
        <p:spPr>
          <a:xfrm>
            <a:off x="9416761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Strategic rationale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strategic rationale for addressing the problem / opportunity, including how this feeds into the overall company strategy]</a:t>
            </a:r>
          </a:p>
        </p:txBody>
      </p:sp>
      <p:sp>
        <p:nvSpPr>
          <p:cNvPr id="6" name="Freeform: Shape 8242">
            <a:extLst>
              <a:ext uri="{FF2B5EF4-FFF2-40B4-BE49-F238E27FC236}">
                <a16:creationId xmlns:a16="http://schemas.microsoft.com/office/drawing/2014/main" id="{89D0E58A-3B63-DF42-6209-EB3D6D253514}"/>
              </a:ext>
            </a:extLst>
          </p:cNvPr>
          <p:cNvSpPr/>
          <p:nvPr/>
        </p:nvSpPr>
        <p:spPr>
          <a:xfrm>
            <a:off x="1304987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50">
                <a:moveTo>
                  <a:pt x="550" y="275"/>
                </a:moveTo>
                <a:cubicBezTo>
                  <a:pt x="550" y="426"/>
                  <a:pt x="427" y="550"/>
                  <a:pt x="275" y="550"/>
                </a:cubicBezTo>
                <a:cubicBezTo>
                  <a:pt x="123" y="550"/>
                  <a:pt x="0" y="426"/>
                  <a:pt x="0" y="275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algn="ctr"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ea typeface="Arial Unicode MS" pitchFamily="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Freeform: Shape 8543">
            <a:extLst>
              <a:ext uri="{FF2B5EF4-FFF2-40B4-BE49-F238E27FC236}">
                <a16:creationId xmlns:a16="http://schemas.microsoft.com/office/drawing/2014/main" id="{83316818-084B-6DFB-AE52-8CEF9B223899}"/>
              </a:ext>
            </a:extLst>
          </p:cNvPr>
          <p:cNvSpPr/>
          <p:nvPr/>
        </p:nvSpPr>
        <p:spPr>
          <a:xfrm>
            <a:off x="4258995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5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4" y="549"/>
                  <a:pt x="0" y="426"/>
                  <a:pt x="0" y="275"/>
                </a:cubicBezTo>
                <a:cubicBezTo>
                  <a:pt x="0" y="123"/>
                  <a:pt x="124" y="0"/>
                  <a:pt x="275" y="0"/>
                </a:cubicBezTo>
                <a:cubicBezTo>
                  <a:pt x="427" y="0"/>
                  <a:pt x="550" y="123"/>
                  <a:pt x="550" y="275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algn="ctr"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Freeform: Shape 8392">
            <a:extLst>
              <a:ext uri="{FF2B5EF4-FFF2-40B4-BE49-F238E27FC236}">
                <a16:creationId xmlns:a16="http://schemas.microsoft.com/office/drawing/2014/main" id="{0D9C83C9-0D73-53A1-8A4A-1B2334A21A89}"/>
              </a:ext>
            </a:extLst>
          </p:cNvPr>
          <p:cNvSpPr/>
          <p:nvPr/>
        </p:nvSpPr>
        <p:spPr>
          <a:xfrm>
            <a:off x="7213003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4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3" y="549"/>
                  <a:pt x="0" y="426"/>
                  <a:pt x="0" y="274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4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Freeform: Shape 8392">
            <a:extLst>
              <a:ext uri="{FF2B5EF4-FFF2-40B4-BE49-F238E27FC236}">
                <a16:creationId xmlns:a16="http://schemas.microsoft.com/office/drawing/2014/main" id="{1A707109-F613-44D0-FE31-98B934E869CC}"/>
              </a:ext>
            </a:extLst>
          </p:cNvPr>
          <p:cNvSpPr/>
          <p:nvPr/>
        </p:nvSpPr>
        <p:spPr>
          <a:xfrm>
            <a:off x="10167012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4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3" y="549"/>
                  <a:pt x="0" y="426"/>
                  <a:pt x="0" y="274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4"/>
                </a:cubicBezTo>
                <a:close/>
              </a:path>
            </a:pathLst>
          </a:custGeom>
          <a:solidFill>
            <a:schemeClr val="accent4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743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69EB-C0F1-979A-A37F-95368E39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trend x]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9B1EB-B482-0492-045A-5F15F81DCD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[Insert more in-depth description of trend x]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D841059-3009-AD7D-0F46-DEFB883FD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299078"/>
              </p:ext>
            </p:extLst>
          </p:nvPr>
        </p:nvGraphicFramePr>
        <p:xfrm>
          <a:off x="1586348" y="2660198"/>
          <a:ext cx="3733369" cy="278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2A42011-6DF6-9261-AA7F-EE61F7815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000014"/>
              </p:ext>
            </p:extLst>
          </p:nvPr>
        </p:nvGraphicFramePr>
        <p:xfrm>
          <a:off x="7216773" y="2660198"/>
          <a:ext cx="3206427" cy="278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76DC87C-186E-EC17-AD2F-99EE51F8777F}"/>
              </a:ext>
            </a:extLst>
          </p:cNvPr>
          <p:cNvSpPr txBox="1"/>
          <p:nvPr/>
        </p:nvSpPr>
        <p:spPr>
          <a:xfrm>
            <a:off x="1381426" y="1961367"/>
            <a:ext cx="4143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Share of [insert description]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727EE-B648-3FD3-192A-BF21822E7B63}"/>
              </a:ext>
            </a:extLst>
          </p:cNvPr>
          <p:cNvSpPr txBox="1"/>
          <p:nvPr/>
        </p:nvSpPr>
        <p:spPr>
          <a:xfrm>
            <a:off x="8954120" y="5804985"/>
            <a:ext cx="194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[Answer 4]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0C33C4-40CB-CD0A-9822-F44E4051EB9F}"/>
              </a:ext>
            </a:extLst>
          </p:cNvPr>
          <p:cNvSpPr txBox="1"/>
          <p:nvPr/>
        </p:nvSpPr>
        <p:spPr>
          <a:xfrm>
            <a:off x="6681520" y="5804985"/>
            <a:ext cx="194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[Answer 3]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6BC3C-6420-98D7-BD59-ADBF827DF7FA}"/>
              </a:ext>
            </a:extLst>
          </p:cNvPr>
          <p:cNvSpPr txBox="1"/>
          <p:nvPr/>
        </p:nvSpPr>
        <p:spPr>
          <a:xfrm>
            <a:off x="4408920" y="5804985"/>
            <a:ext cx="194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[Answer 2]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A171F-7E37-F841-AD0B-90E882A05485}"/>
              </a:ext>
            </a:extLst>
          </p:cNvPr>
          <p:cNvSpPr txBox="1"/>
          <p:nvPr/>
        </p:nvSpPr>
        <p:spPr>
          <a:xfrm>
            <a:off x="2136320" y="5804985"/>
            <a:ext cx="1940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[Answer 1]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88820B-1211-8F56-F5BB-27FDF48C89CC}"/>
              </a:ext>
            </a:extLst>
          </p:cNvPr>
          <p:cNvSpPr txBox="1"/>
          <p:nvPr/>
        </p:nvSpPr>
        <p:spPr>
          <a:xfrm>
            <a:off x="6748380" y="1961367"/>
            <a:ext cx="4143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Share of [insert description]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B412B8-97C0-EA78-8185-6DC31EAE98E9}"/>
              </a:ext>
            </a:extLst>
          </p:cNvPr>
          <p:cNvSpPr/>
          <p:nvPr/>
        </p:nvSpPr>
        <p:spPr>
          <a:xfrm>
            <a:off x="1870142" y="5817342"/>
            <a:ext cx="252000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E812DA-B3EC-7BD8-983F-730459A60728}"/>
              </a:ext>
            </a:extLst>
          </p:cNvPr>
          <p:cNvSpPr/>
          <p:nvPr/>
        </p:nvSpPr>
        <p:spPr>
          <a:xfrm>
            <a:off x="4148291" y="5817342"/>
            <a:ext cx="252000" cy="2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6DF71E-3DF3-66E5-D951-7131D5A2462E}"/>
              </a:ext>
            </a:extLst>
          </p:cNvPr>
          <p:cNvSpPr/>
          <p:nvPr/>
        </p:nvSpPr>
        <p:spPr>
          <a:xfrm>
            <a:off x="6426440" y="5817342"/>
            <a:ext cx="2520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63549B-C4F4-AD5D-ACCA-B3DCF33A6841}"/>
              </a:ext>
            </a:extLst>
          </p:cNvPr>
          <p:cNvSpPr/>
          <p:nvPr/>
        </p:nvSpPr>
        <p:spPr>
          <a:xfrm>
            <a:off x="8704588" y="5817342"/>
            <a:ext cx="252000" cy="252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AEE68B3-6493-094F-8830-A677603CF6FF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620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435343-7292-9910-E527-B10043008D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030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2807</TotalTime>
  <Words>564</Words>
  <Application>Microsoft Office PowerPoint</Application>
  <PresentationFormat>Widescreen</PresentationFormat>
  <Paragraphs>81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Segoe UI</vt:lpstr>
      <vt:lpstr>Wingdings</vt:lpstr>
      <vt:lpstr>Slideworks</vt:lpstr>
      <vt:lpstr>think-cell Slide</vt:lpstr>
      <vt:lpstr>Executive summary</vt:lpstr>
      <vt:lpstr> Executive summary</vt:lpstr>
      <vt:lpstr>Executive summary</vt:lpstr>
      <vt:lpstr>Executive summary</vt:lpstr>
      <vt:lpstr>Executive summary</vt:lpstr>
      <vt:lpstr>[Insert trend x]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CS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William Smith</cp:lastModifiedBy>
  <cp:revision>353</cp:revision>
  <dcterms:created xsi:type="dcterms:W3CDTF">2025-08-18T13:32:02Z</dcterms:created>
  <dcterms:modified xsi:type="dcterms:W3CDTF">2025-12-23T03:46:11Z</dcterms:modified>
  <cp:category>Management consulting, presentation design, business</cp:category>
</cp:coreProperties>
</file>