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73"/>
  </p:notesMasterIdLst>
  <p:handoutMasterIdLst>
    <p:handoutMasterId r:id="rId274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2192000" cy="6858000"/>
  <p:notesSz cx="6858000" cy="9144000"/>
  <p:custDataLst>
    <p:tags r:id="rId27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2257"/>
            <p14:sldId id="2147470934"/>
            <p14:sldId id="2147471505"/>
            <p14:sldId id="2147472095"/>
            <p14:sldId id="2147472258"/>
            <p14:sldId id="2147472391"/>
            <p14:sldId id="2147471444"/>
            <p14:sldId id="2147471073"/>
            <p14:sldId id="2147471074"/>
          </p14:sldIdLst>
        </p14:section>
        <p14:section name="Guide: How to write a compelling business case" id="{8F3C991B-2AB3-3446-98F0-0FE5D7645F05}">
          <p14:sldIdLst>
            <p14:sldId id="2147471497"/>
            <p14:sldId id="1960"/>
            <p14:sldId id="2147472312"/>
            <p14:sldId id="2147472305"/>
            <p14:sldId id="2147472308"/>
            <p14:sldId id="2147472313"/>
            <p14:sldId id="2147472314"/>
            <p14:sldId id="2147472414"/>
            <p14:sldId id="2147472309"/>
          </p14:sldIdLst>
        </p14:section>
        <p14:section name="Template" id="{7295C9B3-76C4-9A40-B779-66AE9833B4E4}">
          <p14:sldIdLst>
            <p14:sldId id="2147470823"/>
          </p14:sldIdLst>
        </p14:section>
        <p14:section name="0. Content" id="{12944F4C-C9D1-F24D-92F7-D1CC9A6CE701}">
          <p14:sldIdLst>
            <p14:sldId id="2147472132"/>
            <p14:sldId id="2147471081"/>
            <p14:sldId id="2147471228"/>
            <p14:sldId id="293"/>
            <p14:sldId id="2147472259"/>
            <p14:sldId id="298"/>
            <p14:sldId id="2147472144"/>
          </p14:sldIdLst>
        </p14:section>
        <p14:section name="1. Executive summary" id="{0570B3CF-3C8C-DA44-83F0-4EE4BE19C8C3}">
          <p14:sldIdLst>
            <p14:sldId id="2147471492"/>
            <p14:sldId id="2147472387"/>
            <p14:sldId id="2147472290"/>
            <p14:sldId id="2147471030"/>
            <p14:sldId id="2147471262"/>
            <p14:sldId id="2147472110"/>
            <p14:sldId id="2147472248"/>
            <p14:sldId id="2147472153"/>
            <p14:sldId id="2147472291"/>
            <p14:sldId id="2147472318"/>
          </p14:sldIdLst>
        </p14:section>
        <p14:section name="2. Background and context" id="{4BF4CEEF-68AC-3B4A-A2C7-BF858AFFBDB7}">
          <p14:sldIdLst>
            <p14:sldId id="2147472133"/>
            <p14:sldId id="2147472389"/>
            <p14:sldId id="2147472247"/>
            <p14:sldId id="4293"/>
            <p14:sldId id="2147472161"/>
            <p14:sldId id="2147471120"/>
            <p14:sldId id="2147472319"/>
            <p14:sldId id="2147472330"/>
            <p14:sldId id="2147472293"/>
          </p14:sldIdLst>
        </p14:section>
        <p14:section name="3. What is the problem/opportunity?" id="{2213AA8D-D016-9343-9FA6-A5EFA52DB65A}">
          <p14:sldIdLst>
            <p14:sldId id="2147472134"/>
            <p14:sldId id="2147472392"/>
          </p14:sldIdLst>
        </p14:section>
        <p14:section name="3a. Text-based slides" id="{6A5F3924-A398-134D-AADB-1A2AD31A7DD7}">
          <p14:sldIdLst>
            <p14:sldId id="2147472282"/>
            <p14:sldId id="2147472321"/>
            <p14:sldId id="2147470920"/>
            <p14:sldId id="2147472326"/>
            <p14:sldId id="2147472385"/>
            <p14:sldId id="2147472332"/>
            <p14:sldId id="2147471130"/>
          </p14:sldIdLst>
        </p14:section>
        <p14:section name="3b. Numbers slides" id="{0FC15C43-AD9C-7B42-ADD4-68E4321DCF77}">
          <p14:sldIdLst>
            <p14:sldId id="2147471131"/>
            <p14:sldId id="2147471132"/>
            <p14:sldId id="2147471133"/>
            <p14:sldId id="2147471145"/>
            <p14:sldId id="2147470936"/>
            <p14:sldId id="2147470939"/>
            <p14:sldId id="2147473350"/>
            <p14:sldId id="2147470941"/>
            <p14:sldId id="2147470558"/>
            <p14:sldId id="2147472505"/>
            <p14:sldId id="2147472509"/>
            <p14:sldId id="2147472328"/>
            <p14:sldId id="2147470559"/>
          </p14:sldIdLst>
        </p14:section>
        <p14:section name="4. High-level solution and vision" id="{CEBD2508-B9C7-A740-BD2C-E5D9ADC3455C}">
          <p14:sldIdLst>
            <p14:sldId id="2147472135"/>
            <p14:sldId id="2147472304"/>
          </p14:sldIdLst>
        </p14:section>
        <p14:section name="4a. High-level solution and vision" id="{1B397B94-C643-7B40-B818-5033EEC23061}">
          <p14:sldIdLst>
            <p14:sldId id="2147471075"/>
            <p14:sldId id="2147471076"/>
            <p14:sldId id="2147472329"/>
            <p14:sldId id="2335"/>
            <p14:sldId id="2342"/>
            <p14:sldId id="2147472402"/>
            <p14:sldId id="2147471077"/>
            <p14:sldId id="2147472320"/>
          </p14:sldIdLst>
        </p14:section>
        <p14:section name="4b. Strategic fit" id="{5DD689A7-2355-C54B-8CD0-E11608A22994}">
          <p14:sldIdLst>
            <p14:sldId id="2147472403"/>
            <p14:sldId id="2147472404"/>
            <p14:sldId id="2147472331"/>
          </p14:sldIdLst>
        </p14:section>
        <p14:section name="5. Options analysis" id="{66876D70-CE82-F446-9665-78FF89A71D43}">
          <p14:sldIdLst>
            <p14:sldId id="2147472136"/>
            <p14:sldId id="2147472393"/>
            <p14:sldId id="2147472294"/>
            <p14:sldId id="2147472301"/>
            <p14:sldId id="2147471199"/>
            <p14:sldId id="2147471209"/>
            <p14:sldId id="2147471210"/>
            <p14:sldId id="2147472383"/>
            <p14:sldId id="2147472334"/>
            <p14:sldId id="2147472345"/>
            <p14:sldId id="2147472429"/>
          </p14:sldIdLst>
        </p14:section>
        <p14:section name="6. Recommended solution" id="{F8505ADA-7CE9-7A4E-B8CD-44A4F1F904CA}">
          <p14:sldIdLst>
            <p14:sldId id="2147472137"/>
          </p14:sldIdLst>
        </p14:section>
        <p14:section name="6a. Solution details" id="{6D06E986-E366-3240-8BB1-6F635305DFB2}">
          <p14:sldIdLst>
            <p14:sldId id="2147472405"/>
            <p14:sldId id="2147472443"/>
            <p14:sldId id="2147473372"/>
            <p14:sldId id="2147473373"/>
            <p14:sldId id="2147473374"/>
            <p14:sldId id="2147472346"/>
            <p14:sldId id="2147472430"/>
            <p14:sldId id="2147472431"/>
            <p14:sldId id="2147472432"/>
            <p14:sldId id="2147472433"/>
            <p14:sldId id="2147472434"/>
            <p14:sldId id="2147472435"/>
            <p14:sldId id="2147472436"/>
            <p14:sldId id="2147472437"/>
            <p14:sldId id="2147472438"/>
            <p14:sldId id="2147472439"/>
            <p14:sldId id="2147472441"/>
            <p14:sldId id="2147472347"/>
            <p14:sldId id="2147472348"/>
            <p14:sldId id="2147470921"/>
          </p14:sldIdLst>
        </p14:section>
        <p14:section name="6b. Benefits" id="{2976A3F5-2E61-1545-A69D-AA9D93F8AD17}">
          <p14:sldIdLst>
            <p14:sldId id="2147472406"/>
            <p14:sldId id="2147472386"/>
            <p14:sldId id="2147472351"/>
            <p14:sldId id="2147472349"/>
            <p14:sldId id="361"/>
            <p14:sldId id="508"/>
            <p14:sldId id="2147472352"/>
            <p14:sldId id="2147472511"/>
            <p14:sldId id="2147472424"/>
            <p14:sldId id="2147472423"/>
          </p14:sldIdLst>
        </p14:section>
        <p14:section name="6c. Costs and ROI analysis" id="{751B015D-03E5-614A-BE25-D12668711615}">
          <p14:sldIdLst>
            <p14:sldId id="2147472407"/>
            <p14:sldId id="2147472415"/>
            <p14:sldId id="2147472360"/>
            <p14:sldId id="2147472160"/>
            <p14:sldId id="2147472420"/>
            <p14:sldId id="2147472419"/>
            <p14:sldId id="2147472418"/>
            <p14:sldId id="2147472359"/>
            <p14:sldId id="2147472362"/>
            <p14:sldId id="2147472422"/>
            <p14:sldId id="2147472421"/>
            <p14:sldId id="2147472365"/>
            <p14:sldId id="2147470792"/>
          </p14:sldIdLst>
        </p14:section>
        <p14:section name="7. Implementation plan" id="{8ACB2E74-128F-3C44-B7A6-645E730EFA9C}">
          <p14:sldIdLst>
            <p14:sldId id="2147472138"/>
            <p14:sldId id="2147472394"/>
            <p14:sldId id="2147472114"/>
            <p14:sldId id="2147472249"/>
            <p14:sldId id="2147472250"/>
            <p14:sldId id="2147472377"/>
            <p14:sldId id="2147472378"/>
            <p14:sldId id="2147472263"/>
            <p14:sldId id="2310"/>
            <p14:sldId id="2147471119"/>
            <p14:sldId id="4276"/>
            <p14:sldId id="2147471122"/>
            <p14:sldId id="4312"/>
            <p14:sldId id="2147472251"/>
            <p14:sldId id="1614"/>
            <p14:sldId id="2147472353"/>
            <p14:sldId id="2147472354"/>
            <p14:sldId id="535"/>
          </p14:sldIdLst>
        </p14:section>
        <p14:section name="8. Risks and mitigations" id="{EDD94D48-D786-CE47-BFEA-95F6F0A7A873}">
          <p14:sldIdLst>
            <p14:sldId id="2147472139"/>
            <p14:sldId id="2147472395"/>
            <p14:sldId id="2147472264"/>
            <p14:sldId id="301"/>
            <p14:sldId id="2147473368"/>
            <p14:sldId id="2147472288"/>
            <p14:sldId id="2147472265"/>
            <p14:sldId id="2147471107"/>
            <p14:sldId id="2147471108"/>
            <p14:sldId id="2147471109"/>
            <p14:sldId id="2147472298"/>
            <p14:sldId id="2147472297"/>
          </p14:sldIdLst>
        </p14:section>
        <p14:section name="9. Governance and monitoring" id="{ADB82AD3-0E5F-0D41-B3F5-584577F77FF2}">
          <p14:sldIdLst>
            <p14:sldId id="2147472140"/>
            <p14:sldId id="2147472396"/>
            <p14:sldId id="2147472397"/>
            <p14:sldId id="1581"/>
            <p14:sldId id="1582"/>
            <p14:sldId id="2147472260"/>
            <p14:sldId id="1584"/>
            <p14:sldId id="2147470748"/>
            <p14:sldId id="1591"/>
            <p14:sldId id="4311"/>
            <p14:sldId id="2147472254"/>
            <p14:sldId id="2147471106"/>
            <p14:sldId id="2147472159"/>
            <p14:sldId id="2147472289"/>
          </p14:sldIdLst>
        </p14:section>
        <p14:section name="10. Recommendations and next steps" id="{F14294FC-93C2-F647-85EA-75FA5B9E800C}">
          <p14:sldIdLst>
            <p14:sldId id="2147472141"/>
            <p14:sldId id="2147472398"/>
            <p14:sldId id="2147472252"/>
            <p14:sldId id="2147472295"/>
            <p14:sldId id="2147471110"/>
            <p14:sldId id="2147471121"/>
          </p14:sldIdLst>
        </p14:section>
        <p14:section name="11. Appendix" id="{C557C7B3-F325-6241-9228-C9E2BAF7167B}">
          <p14:sldIdLst>
            <p14:sldId id="2147472401"/>
          </p14:sldIdLst>
        </p14:section>
        <p14:section name="11a. Assumptions" id="{39165619-C7DE-9A40-9688-74D0358A48FD}">
          <p14:sldIdLst>
            <p14:sldId id="2147471858"/>
            <p14:sldId id="2147472400"/>
            <p14:sldId id="2147472268"/>
          </p14:sldIdLst>
        </p14:section>
        <p14:section name="11b. Sources" id="{A4DF56D5-0C5B-4B44-A186-8117B7701E1B}">
          <p14:sldIdLst>
            <p14:sldId id="2147472005"/>
            <p14:sldId id="2147472006"/>
            <p14:sldId id="2147472008"/>
          </p14:sldIdLst>
        </p14:section>
        <p14:section name="Real-life sanitized case example 1" id="{884E9544-B0B4-FD4E-9E56-EF46004C2081}">
          <p14:sldIdLst>
            <p14:sldId id="2147472085"/>
            <p14:sldId id="2147472311"/>
            <p14:sldId id="2147472485"/>
            <p14:sldId id="2147472492"/>
            <p14:sldId id="2147473359"/>
            <p14:sldId id="2147473360"/>
            <p14:sldId id="2147473371"/>
            <p14:sldId id="2147473362"/>
            <p14:sldId id="2147473363"/>
            <p14:sldId id="2147472493"/>
            <p14:sldId id="2147472496"/>
            <p14:sldId id="2147473375"/>
            <p14:sldId id="2147473370"/>
            <p14:sldId id="2147473364"/>
            <p14:sldId id="2147472498"/>
            <p14:sldId id="2147473366"/>
            <p14:sldId id="2147472499"/>
            <p14:sldId id="2147472486"/>
            <p14:sldId id="2147472488"/>
            <p14:sldId id="2147472500"/>
            <p14:sldId id="2147472489"/>
            <p14:sldId id="2147473365"/>
            <p14:sldId id="2147472501"/>
            <p14:sldId id="2147473369"/>
            <p14:sldId id="2147472503"/>
          </p14:sldIdLst>
        </p14:section>
        <p14:section name="Real-life sanitized case example 2" id="{F5D6A418-7145-2B4C-81B7-1320A0527EEB}">
          <p14:sldIdLst>
            <p14:sldId id="2147472261"/>
            <p14:sldId id="2147472098"/>
            <p14:sldId id="2147471830"/>
            <p14:sldId id="2147472408"/>
            <p14:sldId id="2147472459"/>
            <p14:sldId id="2147470940"/>
            <p14:sldId id="2147472504"/>
            <p14:sldId id="2147472467"/>
            <p14:sldId id="2147472460"/>
            <p14:sldId id="2147472471"/>
            <p14:sldId id="2147472490"/>
            <p14:sldId id="2147472461"/>
            <p14:sldId id="2147471185"/>
            <p14:sldId id="2147472474"/>
            <p14:sldId id="2147472477"/>
            <p14:sldId id="2147472475"/>
            <p14:sldId id="2147472476"/>
            <p14:sldId id="2147472462"/>
            <p14:sldId id="2147472370"/>
            <p14:sldId id="2147472371"/>
            <p14:sldId id="2147472381"/>
            <p14:sldId id="2147472382"/>
            <p14:sldId id="2147472368"/>
            <p14:sldId id="2147472463"/>
            <p14:sldId id="2147472379"/>
            <p14:sldId id="2147472306"/>
            <p14:sldId id="2147472479"/>
            <p14:sldId id="2147472482"/>
            <p14:sldId id="2147472464"/>
            <p14:sldId id="2147472483"/>
          </p14:sldIdLst>
        </p14:section>
        <p14:section name="Case example 3" id="{C7359151-9124-F94A-A205-0D71354C5EFD}">
          <p14:sldIdLst>
            <p14:sldId id="2147472412"/>
            <p14:sldId id="2147472413"/>
            <p14:sldId id="2147472426"/>
            <p14:sldId id="2147472425"/>
            <p14:sldId id="2147472446"/>
            <p14:sldId id="2147472451"/>
            <p14:sldId id="2147472447"/>
            <p14:sldId id="2147472448"/>
            <p14:sldId id="2147472450"/>
            <p14:sldId id="2147472457"/>
            <p14:sldId id="2147472458"/>
            <p14:sldId id="2147472452"/>
            <p14:sldId id="2147472449"/>
            <p14:sldId id="2147472456"/>
          </p14:sldIdLst>
        </p14:section>
        <p14:section name="Appendix: Checklist" id="{79134328-2960-E64E-81B1-A1DAC6744494}">
          <p14:sldIdLst>
            <p14:sldId id="2147470833"/>
            <p14:sldId id="2147471516"/>
            <p14:sldId id="2147471517"/>
            <p14:sldId id="2147471518"/>
            <p14:sldId id="2147471519"/>
            <p14:sldId id="2147471520"/>
            <p14:sldId id="2147471521"/>
            <p14:sldId id="2147471522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>
        <p:scale>
          <a:sx n="99" d="100"/>
          <a:sy n="99" d="100"/>
        </p:scale>
        <p:origin x="3232" y="252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273" Type="http://schemas.openxmlformats.org/officeDocument/2006/relationships/notesMaster" Target="notesMasters/notesMaster1.xml"/><Relationship Id="rId274" Type="http://schemas.openxmlformats.org/officeDocument/2006/relationships/handoutMaster" Target="handoutMasters/handoutMaster1.xml"/><Relationship Id="rId275" Type="http://schemas.openxmlformats.org/officeDocument/2006/relationships/tags" Target="tags/tag1.xml"/><Relationship Id="rId276" Type="http://schemas.openxmlformats.org/officeDocument/2006/relationships/presProps" Target="presProps.xml"/><Relationship Id="rId277" Type="http://schemas.openxmlformats.org/officeDocument/2006/relationships/viewProps" Target="viewProps.xml"/><Relationship Id="rId278" Type="http://schemas.openxmlformats.org/officeDocument/2006/relationships/theme" Target="theme/theme1.xml"/><Relationship Id="rId27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 Rent Growth %</c:v>
                </c:pt>
              </c:strCache>
            </c:strRef>
          </c:tx>
          <c:spPr>
            <a:solidFill>
              <a:srgbClr val="3C96B4"/>
            </a:solidFill>
          </c:spPr>
          <c:cat>
            <c:strRef>
              <c:f>Sheet1!$A$2:$A$5</c:f>
              <c:strCache>
                <c:ptCount val="4"/>
                <c:pt idx="0">
                  <c:v>Big Box &gt;500K SF</c:v>
                </c:pt>
                <c:pt idx="1">
                  <c:v>Mid-Bay 100-500K SF</c:v>
                </c:pt>
                <c:pt idx="2">
                  <c:v>Small-Bay &lt;100K SF</c:v>
                </c:pt>
                <c:pt idx="3">
                  <c:v>Flex Industrial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6.8</c:v>
                </c:pt>
                <c:pt idx="2">
                  <c:v>8.2</c:v>
                </c:pt>
                <c:pt idx="3">
                  <c:v>7.4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$M</c:v>
                </c:pt>
              </c:strCache>
            </c:strRef>
          </c:tx>
          <c:dPt>
            <c:idx val="0"/>
            <c:spPr>
              <a:solidFill>
                <a:srgbClr val="3C96B4"/>
              </a:solidFill>
            </c:spPr>
          </c:dPt>
          <c:dPt>
            <c:idx val="1"/>
            <c:spPr>
              <a:solidFill>
                <a:srgbClr val="E5546C"/>
              </a:solidFill>
            </c:spPr>
          </c:dPt>
          <c:dPt>
            <c:idx val="2"/>
            <c:spPr>
              <a:solidFill>
                <a:srgbClr val="00B050"/>
              </a:solidFill>
            </c:spPr>
          </c:dPt>
          <c:dPt>
            <c:idx val="3"/>
            <c:spPr>
              <a:solidFill>
                <a:srgbClr val="FFB800"/>
              </a:solidFill>
            </c:spPr>
          </c:dPt>
          <c:dPt>
            <c:idx val="4"/>
            <c:spPr>
              <a:solidFill>
                <a:srgbClr val="7C4DC4"/>
              </a:solidFill>
            </c:spPr>
          </c:dPt>
          <c:cat>
            <c:strRef>
              <c:f>Sheet1!$A$2:$A$6</c:f>
              <c:strCache>
                <c:ptCount val="5"/>
                <c:pt idx="0">
                  <c:v>Nashville</c:v>
                </c:pt>
                <c:pt idx="1">
                  <c:v>Phoenix</c:v>
                </c:pt>
                <c:pt idx="2">
                  <c:v>Dallas-Fort Worth</c:v>
                </c:pt>
                <c:pt idx="3">
                  <c:v>Charlotte</c:v>
                </c:pt>
                <c:pt idx="4">
                  <c:v>Tampa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</c:v>
                </c:pt>
                <c:pt idx="1">
                  <c:v>9.4</c:v>
                </c:pt>
                <c:pt idx="2">
                  <c:v>12.8</c:v>
                </c:pt>
                <c:pt idx="3">
                  <c:v>10.5</c:v>
                </c:pt>
                <c:pt idx="4">
                  <c:v>8.1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8/18/25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8/18/25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Relationship Id="rId9" Type="http://schemas.openxmlformats.org/officeDocument/2006/relationships/tags" Target="../tags/tag76.xml"/><Relationship Id="rId10" Type="http://schemas.openxmlformats.org/officeDocument/2006/relationships/tags" Target="../tags/tag77.xml"/><Relationship Id="rId11" Type="http://schemas.openxmlformats.org/officeDocument/2006/relationships/tags" Target="../tags/tag78.xml"/><Relationship Id="rId12" Type="http://schemas.openxmlformats.org/officeDocument/2006/relationships/tags" Target="../tags/tag79.xml"/><Relationship Id="rId13" Type="http://schemas.openxmlformats.org/officeDocument/2006/relationships/tags" Target="../tags/tag80.xml"/><Relationship Id="rId14" Type="http://schemas.openxmlformats.org/officeDocument/2006/relationships/tags" Target="../tags/tag81.xml"/><Relationship Id="rId15" Type="http://schemas.openxmlformats.org/officeDocument/2006/relationships/tags" Target="../tags/tag82.xml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Relationship Id="rId11" Type="http://schemas.openxmlformats.org/officeDocument/2006/relationships/tags" Target="../tags/tag112.xml"/><Relationship Id="rId12" Type="http://schemas.openxmlformats.org/officeDocument/2006/relationships/tags" Target="../tags/tag113.xml"/><Relationship Id="rId13" Type="http://schemas.openxmlformats.org/officeDocument/2006/relationships/tags" Target="../tags/tag114.xml"/><Relationship Id="rId14" Type="http://schemas.openxmlformats.org/officeDocument/2006/relationships/tags" Target="../tags/tag115.xml"/><Relationship Id="rId15" Type="http://schemas.openxmlformats.org/officeDocument/2006/relationships/tags" Target="../tags/tag116.xml"/><Relationship Id="rId16" Type="http://schemas.openxmlformats.org/officeDocument/2006/relationships/tags" Target="../tags/tag117.xml"/><Relationship Id="rId17" Type="http://schemas.openxmlformats.org/officeDocument/2006/relationships/tags" Target="../tags/tag118.xml"/><Relationship Id="rId18" Type="http://schemas.openxmlformats.org/officeDocument/2006/relationships/tags" Target="../tags/tag119.xml"/><Relationship Id="rId19" Type="http://schemas.openxmlformats.org/officeDocument/2006/relationships/tags" Target="../tags/tag120.xml"/><Relationship Id="rId2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2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tags" Target="../tags/tag185.xml"/><Relationship Id="rId8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tags" Target="../tags/tag193.xml"/><Relationship Id="rId9" Type="http://schemas.openxmlformats.org/officeDocument/2006/relationships/tags" Target="../tags/tag194.xml"/><Relationship Id="rId10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Relationship Id="rId12" Type="http://schemas.openxmlformats.org/officeDocument/2006/relationships/tags" Target="../tags/tag220.xml"/><Relationship Id="rId13" Type="http://schemas.openxmlformats.org/officeDocument/2006/relationships/tags" Target="../tags/tag221.xml"/><Relationship Id="rId14" Type="http://schemas.openxmlformats.org/officeDocument/2006/relationships/tags" Target="../tags/tag222.xml"/><Relationship Id="rId15" Type="http://schemas.openxmlformats.org/officeDocument/2006/relationships/tags" Target="../tags/tag223.xml"/><Relationship Id="rId16" Type="http://schemas.openxmlformats.org/officeDocument/2006/relationships/tags" Target="../tags/tag224.xml"/><Relationship Id="rId17" Type="http://schemas.openxmlformats.org/officeDocument/2006/relationships/tags" Target="../tags/tag225.xml"/><Relationship Id="rId1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tags" Target="../tags/tag250.xml"/><Relationship Id="rId11" Type="http://schemas.openxmlformats.org/officeDocument/2006/relationships/tags" Target="../tags/tag251.xml"/><Relationship Id="rId12" Type="http://schemas.openxmlformats.org/officeDocument/2006/relationships/tags" Target="../tags/tag252.xml"/><Relationship Id="rId13" Type="http://schemas.openxmlformats.org/officeDocument/2006/relationships/tags" Target="../tags/tag253.xml"/><Relationship Id="rId14" Type="http://schemas.openxmlformats.org/officeDocument/2006/relationships/tags" Target="../tags/tag254.xml"/><Relationship Id="rId15" Type="http://schemas.openxmlformats.org/officeDocument/2006/relationships/tags" Target="../tags/tag255.xml"/><Relationship Id="rId16" Type="http://schemas.openxmlformats.org/officeDocument/2006/relationships/tags" Target="../tags/tag256.xml"/><Relationship Id="rId17" Type="http://schemas.openxmlformats.org/officeDocument/2006/relationships/tags" Target="../tags/tag257.xml"/><Relationship Id="rId18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tags" Target="../tags/tag287.xml"/><Relationship Id="rId13" Type="http://schemas.openxmlformats.org/officeDocument/2006/relationships/tags" Target="../tags/tag288.xml"/><Relationship Id="rId14" Type="http://schemas.openxmlformats.org/officeDocument/2006/relationships/tags" Target="../tags/tag289.xml"/><Relationship Id="rId15" Type="http://schemas.openxmlformats.org/officeDocument/2006/relationships/tags" Target="../tags/tag290.xml"/><Relationship Id="rId16" Type="http://schemas.openxmlformats.org/officeDocument/2006/relationships/tags" Target="../tags/tag291.xml"/><Relationship Id="rId17" Type="http://schemas.openxmlformats.org/officeDocument/2006/relationships/tags" Target="../tags/tag292.xml"/><Relationship Id="rId18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Relationship Id="rId12" Type="http://schemas.openxmlformats.org/officeDocument/2006/relationships/tags" Target="../tags/tag304.xml"/><Relationship Id="rId13" Type="http://schemas.openxmlformats.org/officeDocument/2006/relationships/tags" Target="../tags/tag305.xml"/><Relationship Id="rId14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06.xml"/><Relationship Id="rId2" Type="http://schemas.openxmlformats.org/officeDocument/2006/relationships/tags" Target="../tags/tag307.xml"/><Relationship Id="rId3" Type="http://schemas.openxmlformats.org/officeDocument/2006/relationships/tags" Target="../tags/tag308.xml"/><Relationship Id="rId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2.xml"/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570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14265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47391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3C58A6B-C0A0-E888-2E66-01D17D0E383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61301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38" r:id="rId26"/>
    <p:sldLayoutId id="2147484239" r:id="rId27"/>
    <p:sldLayoutId id="2147484240" r:id="rId28"/>
    <p:sldLayoutId id="2147484241" r:id="rId29"/>
    <p:sldLayoutId id="2147484242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$150M Value-Add Investment Strategy | Q1 2025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Sun Belt Light Industrial Fund 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Target: $150M equity fund focused on light industrial assets in high-growth Sun Belt markets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Strategy: Acquire small-bay warehouse and flex industrial properties with value-add potential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Target Returns: 15-18% Net IRR with 1.7-2.0x equity multiple over 5-year hold period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Markets: Dallas-Fort Worth, Phoenix, Nashville, Charlotte, Tampa, and Austin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Thesis: Structural undersupply in small-bay segment creates pricing inefficiency vs. institutional big-box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Fund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$150M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Target Fund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15-18%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Target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1.7-2.0x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3-5 Years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Hold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Light Industrial: Structural Supply-Demand Imbalance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US industrial vacancy at historic low of 4.1% nationally, sub-3% in target markets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Small-bay segment (&lt;100K SF) receives only 8% of new construction despite 35% of tenant demand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Developers favor 500K+ SF big-box for institutional capital; small-bay remains fragmented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E-commerce last-mile requirements favor infill small-bay locations near population centers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Supply chain reshoring adding 350,000+ manufacturing jobs since 2021, many in SMB facilities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Industrial Rent Growth by Segment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Source: CoStar, CBRE Research Q3 2024. Small-bay industrial leads all segments due to supply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Target Market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Vacancy %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Pop. Growth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Job Growth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New Supply %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Dallas-Fort Worth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1.4%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Austin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Why We Win Deals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65% of acquisitions sourced off-market through direct broker relationships built over 10+ years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Right-sized for small-bay: Too small for Blackstone/Prologis, too complex for 1031 buyers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Speed to close: 45-day average from LOI to close vs. 90+ days for institutional buyers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Reputation for certainty: Zero retrades across 45 transactions since 2015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Local presence: Dedicated acquisition officers in Dallas, Phoenix, and Nashville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Competitive Positioning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72821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Institutional Buyers ($500M+ funds)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Target 250K+ SF assets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90-120 day close timelines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Committee-driven decisions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Often require seller financing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Limited operational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28216"/>
            <a:ext cx="56052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Sun Belt Industrial (Our Approach)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Target 20-100K SF assets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45-day average close timeline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Principal-led decisions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All-cash or conventional debt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In-house property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Value-Add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Target: Small-bay warehouse (20K-100K SF) and flex industrial properties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Acquisition criteria: 70-85% occupied, below-market rents, deferred maintenance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Value creation: Lease-up to 95%+, mark-to-market rents, light capex improvements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Hold period: 3-5 years with exit to institutional buyers or 1031 exchange buyers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Leverage: 55-60% LTV with fixed-rate debt, 5+ year terms to eliminate refi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72821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Target Profile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Asset size: 20,000 - 100,000 SF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Multi-tenant small-bay format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1990+ construction or renovated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Clear height: 18-24 feet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Truck court and loading docks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28216"/>
            <a:ext cx="56052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Value-Add Drivers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Below-market in-place rents (15%+ discount)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Lease-up from 70-85% to 95%+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Deferred maintenance cure ($5-15/SF)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LED lighting &amp; HVAC upgrades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Facade and signage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Target Acquisition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6.0-6.5%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Going-In Cap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7.5-8.0%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Stabilized Yield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5.75-6.25%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Exit Cap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$8-15M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Avg Deal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Representative Deal: Value Creation Waterfall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32749" y="5081778"/>
            <a:ext cx="1292961" cy="144017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2749" y="4761738"/>
            <a:ext cx="129296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6.0%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9869" y="5349240"/>
            <a:ext cx="165872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Going-In Yield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676" y="4997767"/>
            <a:ext cx="1292961" cy="84010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0676" y="4677727"/>
            <a:ext cx="129296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7796" y="5349240"/>
            <a:ext cx="165872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Rent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8603" y="4930559"/>
            <a:ext cx="1292961" cy="67208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8603" y="4610519"/>
            <a:ext cx="129296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5723" y="5349240"/>
            <a:ext cx="165872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Lease-Up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530" y="4877752"/>
            <a:ext cx="1292961" cy="52806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530" y="4557712"/>
            <a:ext cx="129296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2.2%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650" y="5349240"/>
            <a:ext cx="165872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Cap Rate Com...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4457" y="4793742"/>
            <a:ext cx="1292961" cy="84010"/>
          </a:xfrm>
          <a:prstGeom prst="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4457" y="4473702"/>
            <a:ext cx="129296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3.5%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1577" y="5349240"/>
            <a:ext cx="165872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Leverage Effect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2384" y="4793742"/>
            <a:ext cx="1292961" cy="43205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2384" y="4473702"/>
            <a:ext cx="129296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18.0%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89504" y="5349240"/>
            <a:ext cx="165872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Arial"/>
              </a:rPr>
              <a:t>Exit IRR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Illustrative deal: $10M acquisition, 75% occupied, 20% below-market rents, 3.5-year 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Case Study: Southport Business Park, Nashville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Acquisition: December 2019 | 68,000 SF | 6 buildings | $8.2M ($121/SF)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Situation: 72% occupied, rents 22% below market, deferred maintenance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Execution: $680K capex (roof, HVAC, LED, paving), aggressive leasing campaign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Result: Stabilized at 97% in 18 months, rents increased 28% on renewals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Exit: March 2023 to 1031 buyer at $13.8M ($203/SF) | 5.2% cap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Southport Business Park: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$3.4M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Equity Invested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$8.2M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Equity Returned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26.8%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Net IRR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2.4x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Southport: NOI Bridge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Acquisition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Stabilization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Exit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 ($/SF)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$335K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$554K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$579K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($134K)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($155K)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($162K)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Operating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$201K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$399K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$417K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 Rate Implied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Proven Industrial Investment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Management team has deployed $420M+ across 45 industrial transactions since 2015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Realized Net IRR of 19.1% and 2.0x equity multiple on 28 fully exited investments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17 current holdings performing at or above underwriting (Gross IRR: 14.2% avg)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Zero principal losses across all investments; one partial write-down (2020 COVID impact, recovered)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Track record verified by RSM US LLP; available for LP due diligence upon request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Realized Investments (Selected)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Vintage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Hold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Southport Business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Mesa Industrial Center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 yr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 Flex Portfolio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 Commerce Ctr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 yr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Bay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Return Attribution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72821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Sources of Return (Avg)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Rent Growth: 35% of total return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Lease-Up/Occupancy: 25% of total return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Cap Rate Compression: 20% of total return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Leverage Effect: 20% of total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28216"/>
            <a:ext cx="56052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Key Observations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Operational improvements drive 60% of value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Market tailwinds contribute 40%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Conservative leverage (avg 58% LTV) limits downside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Consistent execution across market cycles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Firm-Wide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$420M+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Total Deployed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19.1%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Realized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2.0x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Realized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3C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0%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Loss Ratio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Current Investment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 Rate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Est. Close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Music City Warehouse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Contract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Feb 2025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Camelback Flex Center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62K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$9.4M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Due Diligence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Mar 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Metroplex Industrial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$12.8M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Accepted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I-485 Business Center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71K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$10.5M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Submitted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Preliminary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Pipeline Summary &amp; Deployment 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Actionable pipeline (Under Contract + Due Diligence): $16.6M / 110K SF (11% of fund)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Near-term pipeline (LOI stage): $23.3M / 156K SF (16% of fund)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Expected first close deployment: 25-30% within 6 months of final close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Target full deployment: 24-30 months from first close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Robust deal flow: Reviewing 15-20 opportunities per month in target markets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Pipeline by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Arial"/>
              </a:rPr>
              <a:t>Geographic diversification aligned with target market allocation. Austin opportunities under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Key Risks and Mitigants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72821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Risk Factors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Interest rate volatility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Economic recession / demand decline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New supply in target markets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Tenant credit defaults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Execution risk on renovations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28216"/>
            <a:ext cx="56052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Mitigating Strategies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Fixed-rate debt, 5+ yr terms, 55-60% LTV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Essential-use tenants, diverse base (20+ per asset)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Focus on infill locations with barriers to entry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Credit underwriting, 3-6 month security deposits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Experienced in-house team, GMP contracts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Scenario Analysis: Fund-Level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Cap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LTV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Bull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5% /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21-23%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2.2-2.4x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Case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/ yr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15-18%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1.7-2.0x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Stress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0% /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8-11%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1.3-1.5x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Case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-2% / yr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3-6%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1.1-1.2x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Downside Protection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Conservative leverage: 55-60% LTV vs. market standard 65-70%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Fixed-rate debt with 5+ year terms eliminates refinancing risk during hold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Multi-tenant format (20+ tenants per property) diversifies income stream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Essential-use tenants: HVAC contractors, electricians, auto services, e-commerce fulfillment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Built-in cushion: Acquire 15%+ below replacement cost in all target markets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Summary of Terms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264"/>
                <a:gridCol w="5541264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$150M target ($175M hard cap)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Minimum Commitment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 million ($500K for existing investors)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 on committed (Yrs 1-3); 1.25% on invested (Yrs 4+)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 over 8% preferred return (European waterfall)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 compounded annually, LP catch-up to 10%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Clawback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 of excess carry returned if fund underperforms at liquidation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years (1-year extension with LP consent)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Term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 years (2 one-year extensions with LP consent)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of fund size ($4.5M) - principals investing personal capital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Alignment of Interests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72821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GP Economics &amp; Commitment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3% GP co-invest ($4.5M personal capital)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European waterfall: carry only after full return of capital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100% GP clawback provision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No transaction fees retained by GP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Key person: J. Smith and S. Johnson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28216"/>
            <a:ext cx="56052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LP Protections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Annual audited financials (RSM US LLP)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Quarterly NAV and performance reporting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LPAC with approval rights on conflicts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No-fault removal with 75% LP vote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Co-invest rights on deals &gt;$20M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Fee Comparison: Sun Belt vs.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176"/>
                <a:gridCol w="3694176"/>
                <a:gridCol w="3694176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Sun Belt Fund I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Peer Average ($100-200M)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(Inv. Period)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1.50-1.75%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(Post-Inv.)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1.25% on invested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 on committed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7-8%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1-2%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Waterfall Structure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Mixed (50% American)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John Smith, Managing Partner &amp; CEO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25 years of industrial real estate investment experience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Previously: Managing Director, CBRE Investment Management ($3B industrial portfolio)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Before CBRE: VP Acquisitions at Duke Realty (2005-2012), $800M deployed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Led 87 industrial transactions totaling $1.8B across career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Key Fund I deals: Southport Nashville (26.8% IRR), DFW Flex Portfolio (17.2% IRR)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MBA, University of Texas at Austin; BS Real Estate, Arizona State University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Sarah Johnson, Partner &amp; CIO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18 years of commercial real estate acquisitions and asset management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Previously: Director of Acquisitions, Clarion Partners ($500M annual deployment)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Before Clarion: Acquisitions at Hines (2008-2015), industrial and logistics focus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Underwritten $4B+ in transactions; closed $2.1B across 65 deals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Key Fund I deals: Mesa Industrial (18.4% IRR), Charlotte Commerce (23.5% IRR)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MBA, Wharton School; BA Economics, Duke University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Investment &amp; Operations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728216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Acquisitions &amp; Underwriting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Michael Chen, VP Acquisitions (10 yrs, ex-JLL)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Amanda Torres, Associate (4 yrs, ex-Eastdil)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Robert Kim, Analyst (2 yrs, ex-PGIM)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728216"/>
            <a:ext cx="560527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61F32"/>
                </a:solidFill>
                <a:latin typeface="Arial"/>
              </a:rPr>
              <a:t>Asset Mgmt &amp; Operations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Lisa Rodriguez, VP Asset Mgmt (12 yrs, ex-Prologis)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David Park, CFO (18 yrs, ex-Angelo Gordon)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</a:rPr>
              <a:t>  Jennifer Walsh, Controller (8 yrs, CPA)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Organization &amp;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Investment Committee: J. Smith, S. Johnson, D. Park (unanimous approval required)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Property Management: In-house team of 8 FTEs across 3 regional offices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Legal Counsel: Kirkland &amp; Ellis LLP (fund formation), local counsel per market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Auditor: RSM US LLP (annual fund audit, quarterly NAV review)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Fund Administrator: Citco Fund Services (investor reporting, capital calls)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A: Complete Track Record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Full track record available upon execution of NDA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Includes: All 45 transactions, vintage years, hold periods, gross and net returns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Third-party verification letter from RSM US LLP available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References available from co-investors in prior funds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Contact: ir@sunbeltindustrial.com for data room access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B: Target Market Deep Dive - Dallas-Fort Worth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DFW Metro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Small-Bay Submarket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National Avg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Industrial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1.02B 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185M 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Vacancy Rate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Asking 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$8.25/SF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$9.10/SF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$7.85/SF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YoY Rent Growth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28M 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2.1M 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Absorption (TTM)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42M SF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8.2M SF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C: Sample Underwriting - Music City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728216"/>
          <a:ext cx="1108252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05"/>
                <a:gridCol w="2216505"/>
                <a:gridCol w="2216505"/>
                <a:gridCol w="2216505"/>
                <a:gridCol w="2216508"/>
              </a:tblGrid>
              <a:tr h="51435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</a:t>
                      </a:r>
                    </a:p>
                  </a:txBody>
                  <a:tcPr>
                    <a:solidFill>
                      <a:srgbClr val="3C96B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Rent/SF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$368K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$403K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$419K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($102K)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($115K)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($121K)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($126K)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$190K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$253K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$282K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$293K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Debt Service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$111K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D: Legal &amp; Tax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Fund Vehicle: Sun Belt Light Industrial Fund I, LP (Delaware limited partnership)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General Partner: Sun Belt Industrial GP I, LLC (Delaware LLC)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REIT Blocker: Available for tax-exempt and non-US investors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ERISA: Fund structured as VCOC to accommodate ERISA capital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K-1 Delivery: Target March 15 annually; extensions available upon request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State Filing: Fund will file in all states where properties are located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Appendix E: ESG &amp; Sustainability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453896"/>
            <a:ext cx="1108252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LED Lighting: All properties upgraded to LED within 12 months of acquisition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Solar Evaluation: Rooftop solar feasibility assessed on all acquisitions &gt;50K SF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HVAC Efficiency: High-efficiency units installed on all new leases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Water Conservation: Low-flow fixtures and drought-tolerant landscaping standard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Tenant Engagement: Green lease provisions for utility data sharing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  Reporting: Annual ESG report to LPs aligned with GRESB framework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Sun Belt Industrial Partners | Investor Relations: David Park, CFO | dpark@sunbeltindustrial.com | (214) 555-1234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61F32"/>
                </a:solidFill>
                <a:latin typeface="Arial"/>
              </a:rPr>
              <a:t>Thank You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2804</TotalTime>
  <Words>31523</Words>
  <Application>Microsoft Macintosh PowerPoint</Application>
  <PresentationFormat>Widescreen</PresentationFormat>
  <Paragraphs>5828</Paragraphs>
  <Slides>271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271</vt:i4>
      </vt:variant>
    </vt:vector>
  </HeadingPairs>
  <TitlesOfParts>
    <vt:vector size="290" baseType="lpstr">
      <vt:lpstr>ＭＳ Ｐゴシック</vt:lpstr>
      <vt:lpstr>ＭＳ Ｐゴシック</vt:lpstr>
      <vt:lpstr>Arial</vt:lpstr>
      <vt:lpstr>Arial </vt:lpstr>
      <vt:lpstr>Calibri</vt:lpstr>
      <vt:lpstr>Georgia</vt:lpstr>
      <vt:lpstr>Graphik Bold</vt:lpstr>
      <vt:lpstr>Graphik Regular</vt:lpstr>
      <vt:lpstr>Helvetica Neue</vt:lpstr>
      <vt:lpstr>Montserrat</vt:lpstr>
      <vt:lpstr>Poppins</vt:lpstr>
      <vt:lpstr>Segoe UI</vt:lpstr>
      <vt:lpstr>Trebuchet MS</vt:lpstr>
      <vt:lpstr>Verdana</vt:lpstr>
      <vt:lpstr>Wingdings</vt:lpstr>
      <vt:lpstr>Wingdings 2</vt:lpstr>
      <vt:lpstr>Wingdings 3</vt:lpstr>
      <vt:lpstr>Slideworks</vt:lpstr>
      <vt:lpstr>think-cell Slide</vt:lpstr>
      <vt:lpstr>PowerPoint Presentation</vt:lpstr>
      <vt:lpstr>Objectives of this template</vt:lpstr>
      <vt:lpstr>Content of this template</vt:lpstr>
      <vt:lpstr>This business case storyline follows the compelling SCR structure used by McKinsey, BCG, and Bain</vt:lpstr>
      <vt:lpstr>The template includes three full-length sanitized case examples to illustrate how a business case can look like in practice</vt:lpstr>
      <vt:lpstr>The template also includes 1 Word document and 5 Excel files</vt:lpstr>
      <vt:lpstr>In addition, it includes a best-practice guide to writing a compelling business case, along with guides for each section of the business case</vt:lpstr>
      <vt:lpstr>How we recommend using the template (I/III)</vt:lpstr>
      <vt:lpstr>How we recommend using the template (II/III)</vt:lpstr>
      <vt:lpstr>How we recommend using the template (III/III)</vt:lpstr>
      <vt:lpstr>PowerPoint Presentation</vt:lpstr>
      <vt:lpstr>PowerPoint Presentation</vt:lpstr>
      <vt:lpstr>Business case and business plan are not the same thing</vt:lpstr>
      <vt:lpstr>When should you create a business case?</vt:lpstr>
      <vt:lpstr>The structure of a best-practice business case creates a compelling story that effectively guides decision makers towards the solution</vt:lpstr>
      <vt:lpstr>Before starting your business case, make sure you’re clear on who your intended audience is and that you thoroughly understand them</vt:lpstr>
      <vt:lpstr>Business case checklist (I/II)</vt:lpstr>
      <vt:lpstr>Business case checklist (II/II)</vt:lpstr>
      <vt:lpstr>Tips and tricks</vt:lpstr>
      <vt:lpstr>PowerPoint Presentation</vt:lpstr>
      <vt:lpstr>Front pages and content</vt:lpstr>
      <vt:lpstr>[Title of document]</vt:lpstr>
      <vt:lpstr>[Title of document]</vt:lpstr>
      <vt:lpstr>PowerPoint Presentation</vt:lpstr>
      <vt:lpstr>Content</vt:lpstr>
      <vt:lpstr>Content</vt:lpstr>
      <vt:lpstr>Content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  <vt:lpstr>Background and context</vt:lpstr>
      <vt:lpstr>Background and context</vt:lpstr>
      <vt:lpstr>Background  and context</vt:lpstr>
      <vt:lpstr>[Insert reason e.g., New AI-driven tech landscape] is main reason for this business case</vt:lpstr>
      <vt:lpstr>[Insert reason or driver e.g., New AI-driven tech landscape] is main reason for this business case</vt:lpstr>
      <vt:lpstr>Background and context</vt:lpstr>
      <vt:lpstr>[Insert team/BU/client]’s objectives are [insert e.g., improve profitability] across three dimensions</vt:lpstr>
      <vt:lpstr>[Insert team/BU/client]’s objectives are [insert objectives]</vt:lpstr>
      <vt:lpstr>This business case was done as part of a [xx]-week project aiming to [insert objective of project]</vt:lpstr>
      <vt:lpstr>What is the problem / opportunity?</vt:lpstr>
      <vt:lpstr>Problem / opportunity</vt:lpstr>
      <vt:lpstr>[Insert action title e.g., “Server down time is causing losses of 100-200k/wk” or simply “Business need”]</vt:lpstr>
      <vt:lpstr>Today: Current state of [insert market / situation]</vt:lpstr>
      <vt:lpstr>[Insert problem] is driving by [insert main drivers / issues / root causes you have identified]</vt:lpstr>
      <vt:lpstr>Current setup creates [insert impact/consequence e.g., excess externalized costs]</vt:lpstr>
      <vt:lpstr>[Insert problem e.g., “Server down time”] is causing [insert business issue e.g., “losses of 100-200k/wk]</vt:lpstr>
      <vt:lpstr>In evaluating the likely impact of [insert problem / opportunity] we have examined two distinct time periods</vt:lpstr>
      <vt:lpstr>Three key trends are driving [insert changes that create opportunity for project X]</vt:lpstr>
      <vt:lpstr>[Insert trend x]</vt:lpstr>
      <vt:lpstr>[Insert trend x]</vt:lpstr>
      <vt:lpstr>[Insert trend x]</vt:lpstr>
      <vt:lpstr>[Line graph / Insert action title]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In past five years, market dominance has shifted from [xx] to [xx]</vt:lpstr>
      <vt:lpstr>[Insert action title]</vt:lpstr>
      <vt:lpstr>[Insert action title]</vt:lpstr>
      <vt:lpstr>[Insert action title]</vt:lpstr>
      <vt:lpstr>Industry is fragmented with many [players 1], [players 2], and [players 3] dominating different parts of the customer landscape</vt:lpstr>
      <vt:lpstr>High-level solution and vision</vt:lpstr>
      <vt:lpstr>High-level solution</vt:lpstr>
      <vt:lpstr>Vision</vt:lpstr>
      <vt:lpstr>Vision</vt:lpstr>
      <vt:lpstr>We suggest [insert solution]</vt:lpstr>
      <vt:lpstr>Our vision and ambition with [project/business x]</vt:lpstr>
      <vt:lpstr>The overall vision and strategy for the project</vt:lpstr>
      <vt:lpstr>PowerPoint Presentation</vt:lpstr>
      <vt:lpstr>Ambition is threefold with an overall goal of [insert]</vt:lpstr>
      <vt:lpstr>There are several potential solutions to [insert problem]</vt:lpstr>
      <vt:lpstr>We see a strong fit to our overall [insert strategy]</vt:lpstr>
      <vt:lpstr>[Project/business x] will allow [insert company] to be [insert how this will give you a competitive advantage]</vt:lpstr>
      <vt:lpstr>This solution fits into our overall strategy</vt:lpstr>
      <vt:lpstr>Options analysis</vt:lpstr>
      <vt:lpstr>Options analysis</vt:lpstr>
      <vt:lpstr>There are three options to [insert objective of business case]</vt:lpstr>
      <vt:lpstr>We have evaluated three options for [insert objective]</vt:lpstr>
      <vt:lpstr>We have evaluated five options for [insert objective]</vt:lpstr>
      <vt:lpstr>Evaluation of options</vt:lpstr>
      <vt:lpstr>There are several options on the build-buy spectrum</vt:lpstr>
      <vt:lpstr>We have evaluated three options for [insert problem]</vt:lpstr>
      <vt:lpstr>We have evaluated three options for [insert problem]</vt:lpstr>
      <vt:lpstr>We considered the benefits and risks for each model in both the near and longer term</vt:lpstr>
      <vt:lpstr>Option [x]: [Insert “name” of option e.g., ”Complete fix”]</vt:lpstr>
      <vt:lpstr>Recommended solution</vt:lpstr>
      <vt:lpstr>Solution details</vt:lpstr>
      <vt:lpstr>We recommend moving forward with option [insert]</vt:lpstr>
      <vt:lpstr>We recommend moving forward with option [insert]</vt:lpstr>
      <vt:lpstr>We recommend moving forward with option [insert]</vt:lpstr>
      <vt:lpstr>Based on this, we recommend moving forward with option [insert]</vt:lpstr>
      <vt:lpstr>This project will primarily focus on [insert in scope areas]</vt:lpstr>
      <vt:lpstr>[Insert name] most affected by suggested solution</vt:lpstr>
      <vt:lpstr>Solution has five main levers</vt:lpstr>
      <vt:lpstr>Solution will focus on [insert description]</vt:lpstr>
      <vt:lpstr>There are several benefits and risks associated with [solution/option]</vt:lpstr>
      <vt:lpstr>Option I: Analytical evaluation shows [insert conclusion]</vt:lpstr>
      <vt:lpstr>Option I: [insert description e.g., optimizes for customer satisfaction]</vt:lpstr>
      <vt:lpstr>Wide range of improvements can lead to [insert] results</vt:lpstr>
      <vt:lpstr>However, Option I also carries some specific risks</vt:lpstr>
      <vt:lpstr>A range of different types of [insert] options were considered</vt:lpstr>
      <vt:lpstr>There are pros and cons associated with every option</vt:lpstr>
      <vt:lpstr>[Insert solution] can have implications for several years</vt:lpstr>
      <vt:lpstr>[Insert] has evolved over time</vt:lpstr>
      <vt:lpstr>Maturity assessment shows [insert]</vt:lpstr>
      <vt:lpstr>Business Model Canvas</vt:lpstr>
      <vt:lpstr>Options analysis</vt:lpstr>
      <vt:lpstr>Implementing [project] will result in significant benefits regardless of chosen option</vt:lpstr>
      <vt:lpstr>There are several tangible and intangible benefits from implementing [insert solution]</vt:lpstr>
      <vt:lpstr>Implementing [solution] will results in significant revenue generation and cost savings</vt:lpstr>
      <vt:lpstr>Benefits primarily around [insert]</vt:lpstr>
      <vt:lpstr>Benefits primarily around [insert]</vt:lpstr>
      <vt:lpstr>Intangible benefits are primarily from [insert areas]</vt:lpstr>
      <vt:lpstr>[Insert initiatives] expected to be main drivers of value</vt:lpstr>
      <vt:lpstr>Revenue generation: Additional revenue expected to be $xx by [insert year], driven by [insert main revenue generators]</vt:lpstr>
      <vt:lpstr>Cost savings: Cost savings estimate at $xx in total, driven primarily by [insert main cost savings buckets]</vt:lpstr>
      <vt:lpstr>Costs and ROI analysis</vt:lpstr>
      <vt:lpstr>Costs differ [insert adjective e.g., significantly] across solution options due to [insert reason]</vt:lpstr>
      <vt:lpstr>Project costs: Costs are mainly tied to [insert category]</vt:lpstr>
      <vt:lpstr>Project costs: Costs are mainly tied to [insert category]</vt:lpstr>
      <vt:lpstr>Project cash flow: Cashflow expected to be [insert description]</vt:lpstr>
      <vt:lpstr>Project cash flow: [Insert description]</vt:lpstr>
      <vt:lpstr>Option [insert] has the highest return on investment</vt:lpstr>
      <vt:lpstr>Option [x] is most attractive overall</vt:lpstr>
      <vt:lpstr>Return on investment estimated to be [insert most relevant metric, depending on your stakeholders]</vt:lpstr>
      <vt:lpstr>NPV: NPV estimated to be [insert]</vt:lpstr>
      <vt:lpstr>Sensitivity analysis: NPV most impacted by changes in [insert assumption/parameter]</vt:lpstr>
      <vt:lpstr>Return on investment estimated to be xx%</vt:lpstr>
      <vt:lpstr>Developing the business case and ROI for [project x] is based on six building blocks</vt:lpstr>
      <vt:lpstr>Implementation plan</vt:lpstr>
      <vt:lpstr>Implementation plan</vt:lpstr>
      <vt:lpstr>Project schedule for each option</vt:lpstr>
      <vt:lpstr>[Project] has five major milestones</vt:lpstr>
      <vt:lpstr>[Project] has five major milestones</vt:lpstr>
      <vt:lpstr>Four-step approach to realize vision and capture value</vt:lpstr>
      <vt:lpstr>Need for immediate actions to secure momentum in [insert timeframe]</vt:lpstr>
      <vt:lpstr>Project expected to start on [insert date]</vt:lpstr>
      <vt:lpstr>[Project] will evolve in three major phases</vt:lpstr>
      <vt:lpstr>[Project] will evolve through four main phases</vt:lpstr>
      <vt:lpstr>[Project title] process expected to run [xx weeks/months]</vt:lpstr>
      <vt:lpstr>High-level timeline for next [insert timeframe]</vt:lpstr>
      <vt:lpstr>[Project plan with status / Insert action title]</vt:lpstr>
      <vt:lpstr>[Project plan with status / Insert action title]</vt:lpstr>
      <vt:lpstr>Main [project/phase x] deliverables</vt:lpstr>
      <vt:lpstr>[Insert area/people] expected to feel highest impact from suggested changes</vt:lpstr>
      <vt:lpstr>Change impact: Highest change impact expected from [insert areas/changes]</vt:lpstr>
      <vt:lpstr>Change impact: Highest change impact expected from [insert areas/changes]</vt:lpstr>
      <vt:lpstr>Risks and mitigations</vt:lpstr>
      <vt:lpstr>Risks and mitigations</vt:lpstr>
      <vt:lpstr>Potential risks and mitigations for each solution option</vt:lpstr>
      <vt:lpstr>We have scored each risk based on impact and likelihood</vt:lpstr>
      <vt:lpstr>We estimate risks mainly tied to [insert]</vt:lpstr>
      <vt:lpstr>We have developed mitigation plans for the most serious risks</vt:lpstr>
      <vt:lpstr>Risk assessment and mitigation plan</vt:lpstr>
      <vt:lpstr>Risks mainly around [insert]</vt:lpstr>
      <vt:lpstr>Risks mainly around [insert]</vt:lpstr>
      <vt:lpstr>We have outlined mitigation strategies for each risk</vt:lpstr>
      <vt:lpstr>Project is dependent on [insert e.g., ”accurate data from department x”]</vt:lpstr>
      <vt:lpstr>There are some constraints around [insert] that must be taken into consideration</vt:lpstr>
      <vt:lpstr>Governance and monitoring</vt:lpstr>
      <vt:lpstr>Governance and monitoring</vt:lpstr>
      <vt:lpstr>Governance and monitoring</vt:lpstr>
      <vt:lpstr>We will go through four high-level steps, with majority of time spent on [insert phase]</vt:lpstr>
      <vt:lpstr>The project is estimated to take [insert] weeks</vt:lpstr>
      <vt:lpstr>We suggest two sounding board meetings, as well as weekly touchpoints with project management team to ensure alignment</vt:lpstr>
      <vt:lpstr>To maintain momentum in the right direction we need an engaged core team and a broad sounding board from [insert company]</vt:lpstr>
      <vt:lpstr>Key success factors and KPIs</vt:lpstr>
      <vt:lpstr>Project will be led by [insert name] and include [x] people in total</vt:lpstr>
      <vt:lpstr>Project is divided into [x] workstreams</vt:lpstr>
      <vt:lpstr>Project governance and team structure</vt:lpstr>
      <vt:lpstr>Project will be run by [insert] with support from [insert]</vt:lpstr>
      <vt:lpstr>Project team resources</vt:lpstr>
      <vt:lpstr>Key stakeholders</vt:lpstr>
      <vt:lpstr>Recommendations and next steps</vt:lpstr>
      <vt:lpstr>Recommenda-tions and next steps</vt:lpstr>
      <vt:lpstr>We recommend [insert recommendation e.g., “proceeding with Option 2”]</vt:lpstr>
      <vt:lpstr>We recommend [insert recommendation e.g., “proceeding with Option B”]</vt:lpstr>
      <vt:lpstr>Immediate next steps</vt:lpstr>
      <vt:lpstr>Focus for next [time period] will be [focus area]</vt:lpstr>
      <vt:lpstr>Appendix</vt:lpstr>
      <vt:lpstr>Assumptions overview</vt:lpstr>
      <vt:lpstr>We have used information from [insert e.g., previous cases, trials, projects]</vt:lpstr>
      <vt:lpstr>Overall assumptions for our model</vt:lpstr>
      <vt:lpstr>We used several different types of sources</vt:lpstr>
      <vt:lpstr>We have used information from [insert e.g., previous cases, trials, projects]</vt:lpstr>
      <vt:lpstr>List of sources</vt:lpstr>
      <vt:lpstr>PowerPoint Presentation</vt:lpstr>
      <vt:lpstr>Disclaimer</vt:lpstr>
      <vt:lpstr>Project Rocketship</vt:lpstr>
      <vt:lpstr>Executive summary</vt:lpstr>
      <vt:lpstr>Background and context</vt:lpstr>
      <vt:lpstr>This business case was created as a response to market opportunities combined with increasing technological changes</vt:lpstr>
      <vt:lpstr>The process included a broad group of stakeholders that provided contextual knowledge, and helped identify and evaluate opportunities</vt:lpstr>
      <vt:lpstr>Several considerations were identified through working sessions, surveys, and discussions with stakeholders</vt:lpstr>
      <vt:lpstr>Objectives and solution</vt:lpstr>
      <vt:lpstr>There are three main objectives for implementing a new software system</vt:lpstr>
      <vt:lpstr>We have evaluated several options for efficiency software</vt:lpstr>
      <vt:lpstr>Based on our analysis, we recommend moving forward with SystemMax</vt:lpstr>
      <vt:lpstr>Several considerations were identified through working sessions, surveys, and discussions with stakeholders</vt:lpstr>
      <vt:lpstr>Impact and financials</vt:lpstr>
      <vt:lpstr>Implementing SoftwareMax will results in several benefits that support the three main objectives</vt:lpstr>
      <vt:lpstr>Example: Implementing SoftwareMax can reduce change request through better communication, resulting in $164000 in annual savings</vt:lpstr>
      <vt:lpstr>Project costs: Costs are mainly tied to software licenses and ongoing training of personnel</vt:lpstr>
      <vt:lpstr>Project cash flow: Project expected to go break-even within first full year of implementation</vt:lpstr>
      <vt:lpstr>Payback: Numbers look positive from all angles, with investment paid back in less than a year</vt:lpstr>
      <vt:lpstr>ROI: Return on investment estimated to be 388.6% by 2028</vt:lpstr>
      <vt:lpstr>Sensitivity analysis: NPV most impacted by assumptions around increased market scope and how much can be captured of that</vt:lpstr>
      <vt:lpstr>Plan</vt:lpstr>
      <vt:lpstr>Plan: Project expected to start on October 1st, pending approval</vt:lpstr>
      <vt:lpstr>Risks: We estimate risks mainly tied to ability to use SystemMax effectively in sales, as well as culture push-back in some teams</vt:lpstr>
      <vt:lpstr>Recommendation  and next steps</vt:lpstr>
      <vt:lpstr>PowerPoint Presentation</vt:lpstr>
      <vt:lpstr>Disclaimer</vt:lpstr>
      <vt:lpstr>Lifting our employees</vt:lpstr>
      <vt:lpstr>Executive summary</vt:lpstr>
      <vt:lpstr>The problem</vt:lpstr>
      <vt:lpstr>Since COVID-19, we have seen an increase in employee absenteeism</vt:lpstr>
      <vt:lpstr>This has resulted in a build up of backloaded tickets and rising costs per customer, risking both customer satisfaction and BigCo’s bottom line</vt:lpstr>
      <vt:lpstr>Our analysis shows absenteeism is driven by five main factors</vt:lpstr>
      <vt:lpstr>The vision</vt:lpstr>
      <vt:lpstr>Vision</vt:lpstr>
      <vt:lpstr>We have three main objectives with this business case</vt:lpstr>
      <vt:lpstr>The solution</vt:lpstr>
      <vt:lpstr>We have looked at over 20 different solution options and narrowed the list to three recommend initiatives</vt:lpstr>
      <vt:lpstr>Our three recommended initiatives collectively address all five factors contributing to employee absenteeism while in line with strategic goals</vt:lpstr>
      <vt:lpstr>Process improvements</vt:lpstr>
      <vt:lpstr>Performance improvement plans</vt:lpstr>
      <vt:lpstr>More recognition</vt:lpstr>
      <vt:lpstr>The financials</vt:lpstr>
      <vt:lpstr>Business case focuses on cost savings only, although there are many intangible benefits connected to the initiatives as well</vt:lpstr>
      <vt:lpstr>High-level business case shows 10.8x return on investment and ~50 mUSD net cash flow from just process improvements</vt:lpstr>
      <vt:lpstr>Backup: Logic for estimated cost for process improvement initiatives</vt:lpstr>
      <vt:lpstr>Backup: Logic for estimated cost for PIP and recognition initiatives</vt:lpstr>
      <vt:lpstr>Proposed investments with &gt;10x payback in cost savings by 2034</vt:lpstr>
      <vt:lpstr>The plan</vt:lpstr>
      <vt:lpstr>Some key milestones will make 10-year plan a reality</vt:lpstr>
      <vt:lpstr>Several actions will secure momentum in next 6-8 months and lay foundation for realizing value</vt:lpstr>
      <vt:lpstr>Project will be led by [Name Namesen] and split into two dedicated streams for process improvement and people topics</vt:lpstr>
      <vt:lpstr>Key stakeholders include all department managers, as well as employee representatives</vt:lpstr>
      <vt:lpstr>Immediate next steps</vt:lpstr>
      <vt:lpstr>Thank you</vt:lpstr>
      <vt:lpstr>PowerPoint Presentation</vt:lpstr>
      <vt:lpstr>Disclaimer</vt:lpstr>
      <vt:lpstr>Business case</vt:lpstr>
      <vt:lpstr>Content</vt:lpstr>
      <vt:lpstr>Executive summary</vt:lpstr>
      <vt:lpstr>Business need</vt:lpstr>
      <vt:lpstr>Power fluctuations are caused by three main things; sensor failures, uneven combustion, and slow relay response time</vt:lpstr>
      <vt:lpstr>We have three options to solve these issue</vt:lpstr>
      <vt:lpstr>Benefits: There are several benefits in both power quality and productivity savings when implementing options 1 and 2</vt:lpstr>
      <vt:lpstr>Risks: Option 1 and 3 carry the highest risks</vt:lpstr>
      <vt:lpstr>Timeline: Both option 1 and 2 expected to take 11 months to complete</vt:lpstr>
      <vt:lpstr>Cost: Option 1 will be most expensive at $11.5M, while option 2 is estimated to cost $7.1M to implement</vt:lpstr>
      <vt:lpstr>ROI: Option 2 has the highest return on investment with a payback period of 5.3 years and an IRR of 21.3%</vt:lpstr>
      <vt:lpstr>Recommendation: Based on our analysis, we recommend moving forward with Option 2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Alexandra Kampmann</cp:lastModifiedBy>
  <cp:revision>351</cp:revision>
  <dcterms:created xsi:type="dcterms:W3CDTF">2025-08-18T13:32:02Z</dcterms:created>
  <dcterms:modified xsi:type="dcterms:W3CDTF">2025-08-20T12:16:12Z</dcterms:modified>
  <cp:category>Management consulting, presentation design, business</cp:category>
</cp:coreProperties>
</file>