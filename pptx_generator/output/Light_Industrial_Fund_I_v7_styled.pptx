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YoY Rent Growth %</c:v>
                </c:pt>
              </c:strCache>
            </c:strRef>
          </c:tx>
          <c:spPr>
            <a:solidFill>
              <a:srgbClr val="000000"/>
            </a:solidFill>
          </c:spPr>
          <c:cat>
            <c:strRef>
              <c:f>Sheet1!$A$2:$A$5</c:f>
              <c:strCache>
                <c:ptCount val="4"/>
                <c:pt idx="0">
                  <c:v>Big Box &gt;500K SF</c:v>
                </c:pt>
                <c:pt idx="1">
                  <c:v>Mid-Bay 100-500K SF</c:v>
                </c:pt>
                <c:pt idx="2">
                  <c:v>Small-Bay &lt;100K SF</c:v>
                </c:pt>
                <c:pt idx="3">
                  <c:v>Flex Industrial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6.8</c:v>
                </c:pt>
                <c:pt idx="2">
                  <c:v>8.2</c:v>
                </c:pt>
                <c:pt idx="3">
                  <c:v>7.4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IRR Contribution %</c:v>
                </c:pt>
              </c:strCache>
            </c:strRef>
          </c:tx>
          <c:spPr>
            <a:solidFill>
              <a:srgbClr val="000000"/>
            </a:solidFill>
          </c:spPr>
          <c:cat>
            <c:strRef>
              <c:f>Sheet1!$A$2:$A$7</c:f>
              <c:strCache>
                <c:ptCount val="6"/>
                <c:pt idx="0">
                  <c:v>Going-In Yield</c:v>
                </c:pt>
                <c:pt idx="1">
                  <c:v>Rent Growth</c:v>
                </c:pt>
                <c:pt idx="2">
                  <c:v>Lease-Up</c:v>
                </c:pt>
                <c:pt idx="3">
                  <c:v>Cap Rate Compression</c:v>
                </c:pt>
                <c:pt idx="4">
                  <c:v>Leverage Effect</c:v>
                </c:pt>
                <c:pt idx="5">
                  <c:v>Exit IRR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</c:v>
                </c:pt>
                <c:pt idx="1">
                  <c:v>3.5</c:v>
                </c:pt>
                <c:pt idx="2">
                  <c:v>2.8</c:v>
                </c:pt>
                <c:pt idx="3">
                  <c:v>2.2</c:v>
                </c:pt>
                <c:pt idx="4">
                  <c:v>3.5</c:v>
                </c:pt>
                <c:pt idx="5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$M</c:v>
                </c:pt>
              </c:strCache>
            </c:strRef>
          </c:tx>
          <c:explosion val="25"/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051C2C"/>
              </a:solidFill>
            </c:spPr>
          </c:dPt>
          <c:dPt>
            <c:idx val="3"/>
            <c:spPr>
              <a:solidFill>
                <a:srgbClr val="2222F6"/>
              </a:solidFill>
            </c:spPr>
          </c:dPt>
          <c:dPt>
            <c:idx val="4"/>
            <c:spPr>
              <a:solidFill>
                <a:srgbClr val="808080"/>
              </a:solidFill>
            </c:spPr>
          </c:dPt>
          <c:cat>
            <c:strRef>
              <c:f>Sheet1!$A$2:$A$6</c:f>
              <c:strCache>
                <c:ptCount val="5"/>
                <c:pt idx="0">
                  <c:v>Nashville</c:v>
                </c:pt>
                <c:pt idx="1">
                  <c:v>Phoenix</c:v>
                </c:pt>
                <c:pt idx="2">
                  <c:v>Dallas-Fort Worth</c:v>
                </c:pt>
                <c:pt idx="3">
                  <c:v>Charlotte</c:v>
                </c:pt>
                <c:pt idx="4">
                  <c:v>Tampa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9.4</c:v>
                </c:pt>
                <c:pt idx="2">
                  <c:v>12.8</c:v>
                </c:pt>
                <c:pt idx="3">
                  <c:v>10.5</c:v>
                </c:pt>
                <c:pt idx="4">
                  <c:v>8.1</c:v>
                </c:pt>
              </c:numCache>
            </c:numRef>
          </c:val>
        </c:ser>
      </c:pieChart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$150M Value-Add Investment Strategy | Q1 2025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Sun Belt Light Industrial Fund 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Investment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$150M equity fund focused on light industrial assets in high-growth Sun Belt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Strategy: Acquire small-bay warehouse and flex industrial properties with value-add potential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Returns: 15-18% Net IRR with 1.7-2.0x equity multiple over 5-year hold period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Markets: Dallas-Fort Worth, Phoenix, Nashville, Charlotte, Tampa, and Austin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Thesis: Structural undersupply in small-bay segment creates pricing inefficiency vs. institutional big-box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Fund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$150M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Fund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15-18%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1.7-2.0x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3-5 Years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Hold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Light Industrial: Structural Supply-Demand Imbalance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US industrial vacancy at historic low of 4.1% nationally, sub-3% in target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Small-bay segment (&lt;100K SF) receives only 8% of new construction despite 35% of tenant demand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Developers favor 500K+ SF big-box for institutional capital; small-bay remains fragmented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E-commerce last-mile requirements favor infill small-bay locations near population centers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Supply chain reshoring adding 350,000+ manufacturing jobs since 2021, many in SMB facilities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Industrial Rent Growth by Segment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Source: CoStar, CBRE Research Q3 2024. Small-bay industrial leads all segments due to supply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Target Market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Vacancy %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Pop.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Job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Supply %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Dallas-Fort Worth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Austin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Why We Win Deals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65% of acquisitions sourced off-market through direct broker relationships built over 10+ years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Right-sized for small-bay: Too small for Blackstone/Prologis, too complex for 1031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Speed to close: 45-day average from LOI to close vs. 90+ days for institutional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Reputation for certainty: Zero retrades across 45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Local presence: Dedicated acquisition officers in Dallas, Phoenix, and Nashville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Competitive Positioning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Institutional Buyers ($500M+ funds)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250K+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90-120 day close timelines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Committee-driven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Often require seller financing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Limited operational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Sun Belt Industrial (Our Approach)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20-100K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45-day average close timeline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Principal-led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All-cash or conventional debt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In-house property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Value-Add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Small-bay warehouse (20K-100K SF) and flex industrial properties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 criteria: 70-85% occupied, below-market rents,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Value creation: Lease-up to 95%+, mark-to-market rents, light capex improvements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Hold period: 3-5 years with exit to institutional buyers or 1031 exchange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Leverage: 55-60% LTV with fixed-rate debt, 5+ year terms to eliminate refi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Investment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Target Profile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Asset size: 20,000 - 100,000 SF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Multi-tenant small-bay format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1990+ construction or renovated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Clear height: 18-24 feet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Truck court and loading docks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Value-Add Drivers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Below-market in-place rents (15%+ discount)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 from 70-85% to 95%+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Deferred maintenance cure ($5-15/SF)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LED lighting &amp; HVAC upgrades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Facade and signage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Target Acquisition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6.0-6.5%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Going-In Cap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7.5-8.0%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Stabilized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5.75-6.25%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Exit Cap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$8-15M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Avg Deal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Representative Deal: Value Creation Waterfall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Illustrative deal: $10M acquisition, 75% occupied, 20% below-market rents, 3.5-year 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Case Study: Southport Business Park, Nashville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Acquisition: December 2019 | 68,000 SF | 6 buildings | $8.2M ($121/SF)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Situation: 72% occupied, rents 22% below market,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Execution: $680K capex (roof, HVAC, LED, paving), aggressive leasing campaign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Result: Stabilized at 97% in 18 months, rents increased 28% on renewals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Exit: March 2023 to 1031 buyer at $13.8M ($203/SF) | 5.2% cap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Southport Business Park: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$3.4M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Invested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$8.2M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Returned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26.8%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Net IRR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2.4x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Southport: NOI 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Acquisition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Stabilization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Exit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 ($/SF)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$6.85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$8.40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$335K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$554K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$579K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($134K)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($155K)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($162K)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Operating Income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$201K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$399K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$417K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 Rate Implied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Proven Industrial Investment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Management team has deployed $420M+ across 45 industrial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Realized Net IRR of 19.1% and 2.0x equity multiple on 28 fully exited investments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17 current holdings performing at or above underwriting (Gross IRR: 14.2% avg)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Zero principal losses across all investments; one partial write-down (2020 COVID impact, recovered)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Track record verified by RSM US LLP; available for LP due diligence upon request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Realized Investments (Selected)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Vintage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Southport Business Park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2019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26.8%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Mesa Industrial Center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 Flex Portfolio (3)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2017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 Commerce Ctr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Bay Logistics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Return Attribution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Sources of Return (Avg)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Rent Growth: 35%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Lease-Up/Occupancy: 25%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Cap Rate Compression: 20%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Leverage Effect: 20% of total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Key Observations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Operational improvements drive 60% of value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Market tailwinds contribute 40%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Conservative leverage (avg 58% LTV) limits downside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Consistent execution across market cycles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Firm-Wide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$420M+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Total Deployed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19.1%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Loss Ratio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Current Investment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 Rate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Est. Close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Music City Warehouse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$7.2M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Contract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Feb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Camelback Flex Center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$9.4M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Due Diligence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Mar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Metroplex Industrial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$12.8M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Accepted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I-485 Business Center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$10.5M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Submitted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Gateway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$8.1M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Preliminary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TBD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Pipeline Summary &amp; Deployment 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Actionable pipeline (Under Contract + Due Diligence): $16.6M / 110K SF (11%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Near-term pipeline (LOI stage): $23.3M / 156K SF (16%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Expected first close deployment: 25-30% within 6 months of final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full deployment: 24-30 months from first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Robust deal flow: Reviewing 15-20 opportunities per month in target markets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Pipeline by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Geographic diversification aligned with target market allocation. Austin opportunities under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Key Risks and Mitigants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Risk Factors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Interest rate volatility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Economic recession / demand decline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New supply in target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Tenant credit defaults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Execution risk on renovations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Mitigating Strategies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Fixed-rate debt, 5+ yr terms, 55-60% LTV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Essential-use tenants, diverse base (20+ per asset)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Focus on infill locations with barriers to entry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Credit underwriting, 3-6 month security deposits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Experienced in-house team, GMP contracts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Scenario Analysis: Fund-Level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Cap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LTV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Bull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21-23%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2.2-2.4x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15-18%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1.7-2.0x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Stress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8-11%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1.3-1.5x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-2%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7.25%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3-6%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1.1-1.2x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Downside Protection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Conservative leverage: 55-60% LTV vs. market standard 65-70%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Fixed-rate debt with 5+ year terms eliminates refinancing risk during hold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Multi-tenant format (20+ tenants per property) diversifies income stream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Essential-use tenants: HVAC contractors, electricians, auto services, e-commerce fulfillment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Built-in cushion: Acquire 15%+ below replacement cost in all target markets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Summary of Terms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264"/>
                <a:gridCol w="5541264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Details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Size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$150M target ($175M hard cap)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Minimum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 million ($500K for existing investors)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 on committed (Yrs 1-3); 1.25% on invested (Yrs 4+)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 over 8% preferred return (European waterfall)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 compounded annually, LP catch-up to 10%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Clawback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 of excess carry returned if fund underperforms at liquidation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Period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years (1-year extension with LP consent)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Term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 years (2 one-year extensions with LP consent)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of fund size ($4.5M) - principals investing personal capital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Alignment of Interests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GP Economics &amp; Commitment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3% GP co-invest ($4.5M personal capital)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European waterfall: carry only after full return of capital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100% GP clawback provision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 transaction fees retained by GP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Key person: J. Smith and S. Johnson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LP Protections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Annual audited financials (RSM US LLP)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Quarterly NAV and performance reporting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LPAC with approval rights on conflicts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No-fault removal with 75% LP vote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Co-invest rights on deals &gt;$20M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Fee Comparison: Sun Belt vs.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176"/>
                <a:gridCol w="3694176"/>
                <a:gridCol w="3694176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Sun Belt Fund I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Average ($100-200M)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(Inv. Period)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1.50-1.75%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(Post-Inv.)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1.25% on invested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 on committed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7-8%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1-2%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Waterfall Structure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Mixed (50% American)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John Smith, Managing Partner &amp; CEO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25 years of industrial real estate investment experience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Managing Director, CBRE Investment Management ($3B industrial portfolio)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CBRE: VP Acquisitions at Duke Realty (2005-2012), $800M deployed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87 industrial transactions totaling $1.8B across career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Southport Nashville (26.8% IRR), DFW Flex Portfolio (17.2%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University of Texas at Austin; BS Real Estate, Arizona State University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Sarah Johnson, Partner &amp; CIO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18 years of commercial real estate acquisitions and asset management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Director of Acquisitions, Clarion Partners ($500M annual deployment)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Clarion: Acquisitions at Hines (2008-2015), industrial and logistics focus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Underwritten $4B+ in transactions; closed $2.1B across 65 deals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Mesa Industrial (18.4% IRR), Charlotte Commerce (23.5%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Wharton School; BA Economics, Duke University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Investment &amp; Operations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Acquisitions &amp; Underwriting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Michael Chen, VP Acquisitions (10 yrs, ex-JLL)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Amanda Torres, Associate (4 yrs, ex-Eastdil)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Robert Kim, Analyst (2 yrs, ex-PGIM)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Asset Mgmt &amp;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Lisa Rodriguez, VP Asset Mgmt (12 yrs, ex-Prologis)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David Park, CFO (18 yrs, ex-Angelo Gordon)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Jennifer Walsh, Controller (8 yrs, CPA)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Organization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Investment Committee: J. Smith, S. Johnson, D. Park (unanimous approval required)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Property Management: In-house team of 8 FTEs across 3 regional offices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Legal Counsel: Kirkland &amp; Ellis LLP (fund formation), local counsel per market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Auditor: RSM US LLP (annual fund audit, quarterly NAV review)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Administrator: Citco Fund Services (investor reporting, capital calls)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A: Complete Track Record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Full track record available upon execution of NDA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Includes: All 45 transactions, vintage years, hold periods, gross and net returns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Third-party verification letter from RSM US LLP available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References available from co-investors in prior funds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Contact: ir@sunbeltindustrial.com for data room access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B: Target Market Deep Dive - Dallas-Fort Worth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DFW Metro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Small-Bay Submarket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National Avg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Industrial Inventory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1.02B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185M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Vacancy Rate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Asking Rent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$8.25/SF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YoY Rent Growth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Construction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Absorption (TTM)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8.2M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C: Sample Underwriting - Music City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05"/>
                <a:gridCol w="2216505"/>
                <a:gridCol w="2216505"/>
                <a:gridCol w="2216505"/>
                <a:gridCol w="221650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$8.35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$403K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($102K)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($115K)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($121K)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($126K)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NOI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$190K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$253K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$282K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Debt Service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Cash Flow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$111K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$140K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D: Legal &amp; Tax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Vehicle: Sun Belt Light Industrial Fund I, LP (Delaware limited partnership)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General Partner: Sun Belt Industrial GP I, LLC (Delaware LLC)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REIT Blocker: Available for tax-exempt and non-US investors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ERISA: Fund structured as VCOC to accommodate ERISA capital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K-1 Delivery: Target March 15 annually; extensions available upon request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State Filing: Fund will file in all states where properties are located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E: ESG &amp;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Lighting: All properties upgraded to LED within 12 months of acquisition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Solar Evaluation: Rooftop solar feasibility assessed on all acquisitions &gt;50K SF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HVAC Efficiency: High-efficiency units installed on all new leases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Water Conservation: Low-flow fixtures and drought-tolerant landscaping standard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Tenant Engagement: Green lease provisions for utility data sharing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Reporting: Annual ESG report to LPs aligned with GRESB framework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Sun Belt Industrial Partners | Investor Relations: David Park, CFO | dpark@sunbeltindustrial.com | (214) 555-1234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Thank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