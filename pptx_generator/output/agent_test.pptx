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17"/>
  </p:notesMasterIdLst>
  <p:handoutMasterIdLst>
    <p:handoutMasterId r:id="rId218"/>
  </p:handoutMasterIdLst>
  <p:sldIdLst>
    <p:sldId id="256" r:id="rId9"/>
    <p:sldId id="257" r:id="rId10"/>
    <p:sldId id="258" r:id="rId11"/>
  </p:sldIdLst>
  <p:sldSz cx="12192000" cy="6858000"/>
  <p:notesSz cx="6858000" cy="9144000"/>
  <p:custDataLst>
    <p:tags r:id="rId21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0932"/>
            <p14:sldId id="2147470934"/>
          </p14:sldIdLst>
        </p14:section>
        <p14:section name="Template" id="{7295C9B3-76C4-9A40-B779-66AE9833B4E4}">
          <p14:sldIdLst>
            <p14:sldId id="2147470823"/>
          </p14:sldIdLst>
        </p14:section>
        <p14:section name="1. Front pages and content" id="{BC9888E5-F834-E647-B48A-AE32FE14E7C7}">
          <p14:sldIdLst>
            <p14:sldId id="2147471081"/>
            <p14:sldId id="2147471228"/>
            <p14:sldId id="293"/>
            <p14:sldId id="298"/>
          </p14:sldIdLst>
        </p14:section>
        <p14:section name="2. Executive summary" id="{76D3C88E-DD0F-C54E-8DB9-A598ACEB0C2B}">
          <p14:sldIdLst>
            <p14:sldId id="2147471029"/>
            <p14:sldId id="2147471030"/>
            <p14:sldId id="2147470904"/>
            <p14:sldId id="2147471262"/>
            <p14:sldId id="214747112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. Graph slides" id="{786B8667-1A55-6B4F-A4A1-057E75F4BD3B}">
          <p14:sldIdLst/>
        </p14:section>
        <p14:section name="4a. Column and bar charts" id="{D5BF2741-60F4-4A4D-AFFD-CE7747095E63}">
          <p14:sldIdLst>
            <p14:sldId id="2147470936"/>
            <p14:sldId id="2147470939"/>
            <p14:sldId id="2147470940"/>
            <p14:sldId id="2147470941"/>
            <p14:sldId id="2147471532"/>
            <p14:sldId id="2147470927"/>
            <p14:sldId id="2147471533"/>
            <p14:sldId id="2147470751"/>
            <p14:sldId id="2349"/>
            <p14:sldId id="2353"/>
            <p14:sldId id="2147473384"/>
            <p14:sldId id="2147471131"/>
            <p14:sldId id="2147470937"/>
            <p14:sldId id="2147471297"/>
            <p14:sldId id="2147473391"/>
            <p14:sldId id="2147470910"/>
            <p14:sldId id="2147470578"/>
            <p14:sldId id="2147471146"/>
            <p14:sldId id="2147471148"/>
            <p14:sldId id="2147471250"/>
            <p14:sldId id="2147471082"/>
            <p14:sldId id="2147471083"/>
            <p14:sldId id="2147471132"/>
            <p14:sldId id="2147471133"/>
            <p14:sldId id="2147471084"/>
            <p14:sldId id="2147471126"/>
            <p14:sldId id="2315"/>
            <p14:sldId id="2147471275"/>
            <p14:sldId id="2147473392"/>
          </p14:sldIdLst>
        </p14:section>
        <p14:section name="4b. Line charts" id="{24C24F6C-3394-CD45-8B5E-51C2B6138168}">
          <p14:sldIdLst>
            <p14:sldId id="2147471145"/>
            <p14:sldId id="2147470750"/>
            <p14:sldId id="2147471251"/>
            <p14:sldId id="2147471281"/>
            <p14:sldId id="2147471282"/>
            <p14:sldId id="2147470888"/>
            <p14:sldId id="2147470887"/>
            <p14:sldId id="2147471291"/>
          </p14:sldIdLst>
        </p14:section>
        <p14:section name="4c. Waterfall charts" id="{2BAA8515-0F06-4A48-A15D-B2153D591D1D}">
          <p14:sldIdLst>
            <p14:sldId id="2147471283"/>
            <p14:sldId id="2147470862"/>
            <p14:sldId id="2352"/>
            <p14:sldId id="2147471274"/>
            <p14:sldId id="2147471086"/>
            <p14:sldId id="2147470938"/>
            <p14:sldId id="2147471298"/>
            <p14:sldId id="2147470863"/>
          </p14:sldIdLst>
        </p14:section>
        <p14:section name="4d. Bubble and scatter charts" id="{39A505FE-76E6-DA40-BAAB-CD68A9325050}">
          <p14:sldIdLst>
            <p14:sldId id="2147470515"/>
            <p14:sldId id="4315"/>
            <p14:sldId id="2147470514"/>
            <p14:sldId id="2147471239"/>
            <p14:sldId id="2147471246"/>
            <p14:sldId id="2147471240"/>
            <p14:sldId id="2147471245"/>
            <p14:sldId id="2147471247"/>
            <p14:sldId id="2147471248"/>
            <p14:sldId id="2147471249"/>
          </p14:sldIdLst>
        </p14:section>
        <p14:section name="4e. Pie charts" id="{8E20EDA3-2097-074A-84FD-E8F18273A8D6}">
          <p14:sldIdLst>
            <p14:sldId id="2147471092"/>
            <p14:sldId id="2147471149"/>
            <p14:sldId id="2147470560"/>
            <p14:sldId id="2147471237"/>
          </p14:sldIdLst>
        </p14:section>
        <p14:section name="4f. Multiple chart types in one slide" id="{AED8F912-08DD-8D42-B354-A08F6A9C4A86}">
          <p14:sldIdLst>
            <p14:sldId id="2147470756"/>
            <p14:sldId id="2147471231"/>
            <p14:sldId id="2147473389"/>
          </p14:sldIdLst>
        </p14:section>
        <p14:section name="4g. Harvey ball slides" id="{B01C26A8-4E40-3140-9D61-DB2672698B42}">
          <p14:sldIdLst>
            <p14:sldId id="2147470962"/>
            <p14:sldId id="2147470963"/>
            <p14:sldId id="2147470964"/>
          </p14:sldIdLst>
        </p14:section>
        <p14:section name="5. Text slides" id="{6FBAF98A-ACD9-304A-BC88-5B44140B9DB7}">
          <p14:sldIdLst/>
        </p14:section>
        <p14:section name="5a. Slides describing trends or main takeaways/actions" id="{FCBD28AF-4C20-B143-AD6E-2F35EEE8B858}">
          <p14:sldIdLst>
            <p14:sldId id="2147471130"/>
            <p14:sldId id="2147471078"/>
            <p14:sldId id="2147470867"/>
            <p14:sldId id="2147471236"/>
            <p14:sldId id="2147470516"/>
            <p14:sldId id="2147471232"/>
            <p14:sldId id="2147471235"/>
            <p14:sldId id="2355"/>
            <p14:sldId id="2147471234"/>
            <p14:sldId id="2147471233"/>
            <p14:sldId id="2147471162"/>
            <p14:sldId id="2147470587"/>
            <p14:sldId id="2147470930"/>
            <p14:sldId id="2147470931"/>
          </p14:sldIdLst>
        </p14:section>
        <p14:section name="5b. Assessment and option comparison slides" id="{52CD5E4C-118B-1042-82B9-D34B5D2ADB5E}">
          <p14:sldIdLst>
            <p14:sldId id="2147473382"/>
            <p14:sldId id="2147473383"/>
            <p14:sldId id="2147471107"/>
            <p14:sldId id="2147473393"/>
            <p14:sldId id="2147473394"/>
            <p14:sldId id="2147471175"/>
            <p14:sldId id="2147471199"/>
            <p14:sldId id="2147471209"/>
            <p14:sldId id="2147471210"/>
            <p14:sldId id="2147471176"/>
          </p14:sldIdLst>
        </p14:section>
        <p14:section name="5c. Competitor analysis slides" id="{BC78069F-D3FA-E945-988E-290534D6399A}">
          <p14:sldIdLst>
            <p14:sldId id="2147471218"/>
            <p14:sldId id="2147471238"/>
            <p14:sldId id="2147471284"/>
            <p14:sldId id="2147471286"/>
            <p14:sldId id="2147471227"/>
            <p14:sldId id="2147471301"/>
            <p14:sldId id="2147471302"/>
            <p14:sldId id="2147471259"/>
            <p14:sldId id="2147470561"/>
          </p14:sldIdLst>
        </p14:section>
        <p14:section name="5d. Org and team charts" id="{0AB31B81-7E72-CF42-921F-64A1BB9053FB}">
          <p14:sldIdLst>
            <p14:sldId id="2147471106"/>
            <p14:sldId id="2147470954"/>
            <p14:sldId id="4311"/>
            <p14:sldId id="2147470967"/>
            <p14:sldId id="2147471150"/>
          </p14:sldIdLst>
        </p14:section>
        <p14:section name="5e. Tree diagrams" id="{9307BDEE-2979-FA47-BC91-5461DDFE9C6B}">
          <p14:sldIdLst>
            <p14:sldId id="2147470920"/>
            <p14:sldId id="2147470960"/>
          </p14:sldIdLst>
        </p14:section>
        <p14:section name="5f. Process and customer journey slides" id="{A0B21068-1BAD-4847-ABDE-CFC6ACF11CCA}">
          <p14:sldIdLst>
            <p14:sldId id="2366"/>
            <p14:sldId id="2335"/>
            <p14:sldId id="2147471280"/>
            <p14:sldId id="2147470952"/>
            <p14:sldId id="2147470874"/>
            <p14:sldId id="2147470928"/>
            <p14:sldId id="2147471190"/>
            <p14:sldId id="2147470880"/>
            <p14:sldId id="2147471139"/>
            <p14:sldId id="2147470956"/>
            <p14:sldId id="2147470957"/>
          </p14:sldIdLst>
        </p14:section>
        <p14:section name="5g. Hypotheses slides" id="{E92BE8F6-8DA7-2F46-8D50-85235E9C83C9}">
          <p14:sldIdLst>
            <p14:sldId id="4293"/>
            <p14:sldId id="4296"/>
            <p14:sldId id="2147471261"/>
          </p14:sldIdLst>
        </p14:section>
        <p14:section name="5h. M&amp;A specific slides" id="{AF41B2AE-CE17-1A47-A717-5B1C8549FE26}">
          <p14:sldIdLst>
            <p14:sldId id="4308"/>
            <p14:sldId id="4319"/>
            <p14:sldId id="214747126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0555"/>
            <p14:sldId id="2147473381"/>
            <p14:sldId id="2147471276"/>
            <p14:sldId id="2147470532"/>
            <p14:sldId id="262"/>
            <p14:sldId id="2305"/>
            <p14:sldId id="2147471300"/>
            <p14:sldId id="2147471299"/>
          </p14:sldIdLst>
        </p14:section>
        <p14:section name="5h. Misc text slides" id="{02A5AA3F-0294-1448-B19D-7E8D7E8070A3}">
          <p14:sldIdLst>
            <p14:sldId id="2147470580"/>
            <p14:sldId id="2147470581"/>
            <p14:sldId id="2147471177"/>
            <p14:sldId id="2147470878"/>
            <p14:sldId id="2147471287"/>
            <p14:sldId id="2147470872"/>
            <p14:sldId id="272"/>
          </p14:sldIdLst>
        </p14:section>
        <p14:section name="6. Timeline and implementation plan slides" id="{573E1692-184D-2943-AB5C-946AA304080B}">
          <p14:sldIdLst/>
        </p14:section>
        <p14:section name="6a. One or two page roadmap/timeline slides" id="{410A2D61-34ED-E84A-AACC-E91C8C7DDC7A}">
          <p14:sldIdLst>
            <p14:sldId id="4300"/>
            <p14:sldId id="2147473395"/>
            <p14:sldId id="2147473396"/>
            <p14:sldId id="2147473397"/>
            <p14:sldId id="1879"/>
            <p14:sldId id="2147471067"/>
            <p14:sldId id="2147473398"/>
            <p14:sldId id="2147473399"/>
            <p14:sldId id="2147471153"/>
            <p14:sldId id="4281"/>
            <p14:sldId id="2147473307"/>
            <p14:sldId id="2147473354"/>
            <p14:sldId id="2147473380"/>
            <p14:sldId id="2147471549"/>
            <p14:sldId id="2147471277"/>
            <p14:sldId id="2147471278"/>
          </p14:sldIdLst>
        </p14:section>
        <p14:section name="6b. Detailed implementation plan" id="{D5FCF174-1770-0448-AA33-2FAC07039000}">
          <p14:sldIdLst>
            <p14:sldId id="2147473379"/>
            <p14:sldId id="2147471552"/>
            <p14:sldId id="2147471553"/>
            <p14:sldId id="2147471554"/>
            <p14:sldId id="2147471555"/>
            <p14:sldId id="2147471556"/>
            <p14:sldId id="2147471557"/>
            <p14:sldId id="2147471558"/>
            <p14:sldId id="2147471559"/>
            <p14:sldId id="2147471560"/>
          </p14:sldIdLst>
        </p14:section>
        <p14:section name="6c. Next steps slides" id="{9447CA5D-60FD-A44C-938E-C938EEB061A9}">
          <p14:sldIdLst>
            <p14:sldId id="2147471110"/>
            <p14:sldId id="2147471121"/>
          </p14:sldIdLst>
        </p14:section>
        <p14:section name="Appendix A. Frameworks" id="{C3D61537-03AB-A44E-B8D9-6456ABA3BD67}">
          <p14:sldIdLst>
            <p14:sldId id="2147471516"/>
            <p14:sldId id="2147473357"/>
            <p14:sldId id="2147473343"/>
            <p14:sldId id="2147473314"/>
            <p14:sldId id="2147471526"/>
            <p14:sldId id="274"/>
            <p14:sldId id="2147473358"/>
            <p14:sldId id="2147471517"/>
            <p14:sldId id="2147473359"/>
            <p14:sldId id="2147473360"/>
            <p14:sldId id="2147473361"/>
            <p14:sldId id="2147473352"/>
            <p14:sldId id="2147473362"/>
            <p14:sldId id="2147473363"/>
            <p14:sldId id="2147473364"/>
            <p14:sldId id="316"/>
            <p14:sldId id="2147471518"/>
            <p14:sldId id="2147473365"/>
            <p14:sldId id="2147473366"/>
            <p14:sldId id="2147473367"/>
            <p14:sldId id="2147473368"/>
            <p14:sldId id="2147473369"/>
            <p14:sldId id="2147473370"/>
            <p14:sldId id="2147473371"/>
            <p14:sldId id="2147471519"/>
            <p14:sldId id="2147471520"/>
          </p14:sldIdLst>
        </p14:section>
        <p14:section name="Appendix B. Checklist" id="{786778BE-1245-7A4C-BABA-82B747FB840A}">
          <p14:sldIdLst>
            <p14:sldId id="2147471515"/>
            <p14:sldId id="2147473372"/>
            <p14:sldId id="2147473373"/>
            <p14:sldId id="2147473374"/>
            <p14:sldId id="2147473375"/>
            <p14:sldId id="2147473376"/>
            <p14:sldId id="2147473377"/>
            <p14:sldId id="2147473378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3688"/>
  </p:normalViewPr>
  <p:slideViewPr>
    <p:cSldViewPr snapToGrid="0" showGuides="1">
      <p:cViewPr>
        <p:scale>
          <a:sx n="85" d="100"/>
          <a:sy n="85" d="100"/>
        </p:scale>
        <p:origin x="952" y="80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217" Type="http://schemas.openxmlformats.org/officeDocument/2006/relationships/notesMaster" Target="notesMasters/notesMaster1.xml"/><Relationship Id="rId218" Type="http://schemas.openxmlformats.org/officeDocument/2006/relationships/handoutMaster" Target="handoutMasters/handoutMaster1.xml"/><Relationship Id="rId219" Type="http://schemas.openxmlformats.org/officeDocument/2006/relationships/tags" Target="tags/tag1.xml"/><Relationship Id="rId220" Type="http://schemas.openxmlformats.org/officeDocument/2006/relationships/presProps" Target="presProps.xml"/><Relationship Id="rId221" Type="http://schemas.openxmlformats.org/officeDocument/2006/relationships/viewProps" Target="viewProps.xml"/><Relationship Id="rId222" Type="http://schemas.openxmlformats.org/officeDocument/2006/relationships/theme" Target="theme/theme1.xml"/><Relationship Id="rId2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9/9/25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9/9/25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tags" Target="../tags/tag314.xml"/><Relationship Id="rId3" Type="http://schemas.openxmlformats.org/officeDocument/2006/relationships/tags" Target="../tags/tag315.xml"/><Relationship Id="rId4" Type="http://schemas.openxmlformats.org/officeDocument/2006/relationships/tags" Target="../tags/tag316.xml"/><Relationship Id="rId5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7.xml"/><Relationship Id="rId2" Type="http://schemas.openxmlformats.org/officeDocument/2006/relationships/tags" Target="../tags/tag3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21.xml"/><Relationship Id="rId2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3977578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8342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8797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6138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Relationship Id="rId33" Type="http://schemas.openxmlformats.org/officeDocument/2006/relationships/tags" Target="../tags/tag2.xml"/><Relationship Id="rId34" Type="http://schemas.openxmlformats.org/officeDocument/2006/relationships/tags" Target="../tags/tag3.xml"/><Relationship Id="rId35" Type="http://schemas.openxmlformats.org/officeDocument/2006/relationships/tags" Target="../tags/tag4.xml"/><Relationship Id="rId36" Type="http://schemas.openxmlformats.org/officeDocument/2006/relationships/tags" Target="../tags/tag5.xml"/><Relationship Id="rId37" Type="http://schemas.openxmlformats.org/officeDocument/2006/relationships/tags" Target="../tags/tag6.xml"/><Relationship Id="rId38" Type="http://schemas.openxmlformats.org/officeDocument/2006/relationships/tags" Target="../tags/tag7.xml"/><Relationship Id="rId39" Type="http://schemas.openxmlformats.org/officeDocument/2006/relationships/tags" Target="../tags/tag8.xml"/><Relationship Id="rId40" Type="http://schemas.openxmlformats.org/officeDocument/2006/relationships/tags" Target="../tags/tag9.xml"/><Relationship Id="rId41" Type="http://schemas.openxmlformats.org/officeDocument/2006/relationships/tags" Target="../tags/tag10.xml"/><Relationship Id="rId42" Type="http://schemas.openxmlformats.org/officeDocument/2006/relationships/tags" Target="../tags/tag11.xml"/><Relationship Id="rId43" Type="http://schemas.openxmlformats.org/officeDocument/2006/relationships/tags" Target="../tags/tag12.xml"/><Relationship Id="rId44" Type="http://schemas.openxmlformats.org/officeDocument/2006/relationships/tags" Target="../tags/tag13.xml"/><Relationship Id="rId45" Type="http://schemas.openxmlformats.org/officeDocument/2006/relationships/tags" Target="../tags/tag14.xml"/><Relationship Id="rId46" Type="http://schemas.openxmlformats.org/officeDocument/2006/relationships/tags" Target="../tags/tag15.xml"/><Relationship Id="rId47" Type="http://schemas.openxmlformats.org/officeDocument/2006/relationships/tags" Target="../tags/tag16.xml"/><Relationship Id="rId48" Type="http://schemas.openxmlformats.org/officeDocument/2006/relationships/tags" Target="../tags/tag17.xml"/><Relationship Id="rId49" Type="http://schemas.openxmlformats.org/officeDocument/2006/relationships/tags" Target="../tags/tag18.xml"/><Relationship Id="rId50" Type="http://schemas.openxmlformats.org/officeDocument/2006/relationships/tags" Target="../tags/tag19.xml"/><Relationship Id="rId51" Type="http://schemas.openxmlformats.org/officeDocument/2006/relationships/tags" Target="../tags/tag20.xml"/><Relationship Id="rId52" Type="http://schemas.openxmlformats.org/officeDocument/2006/relationships/tags" Target="../tags/tag21.xml"/><Relationship Id="rId53" Type="http://schemas.openxmlformats.org/officeDocument/2006/relationships/tags" Target="../tags/tag22.xml"/><Relationship Id="rId54" Type="http://schemas.openxmlformats.org/officeDocument/2006/relationships/tags" Target="../tags/tag23.xml"/><Relationship Id="rId55" Type="http://schemas.openxmlformats.org/officeDocument/2006/relationships/tags" Target="../tags/tag24.xml"/><Relationship Id="rId56" Type="http://schemas.openxmlformats.org/officeDocument/2006/relationships/tags" Target="../tags/tag25.xml"/><Relationship Id="rId57" Type="http://schemas.openxmlformats.org/officeDocument/2006/relationships/tags" Target="../tags/tag26.xml"/><Relationship Id="rId58" Type="http://schemas.openxmlformats.org/officeDocument/2006/relationships/tags" Target="../tags/tag27.xml"/><Relationship Id="rId59" Type="http://schemas.openxmlformats.org/officeDocument/2006/relationships/tags" Target="../tags/tag28.xml"/><Relationship Id="rId60" Type="http://schemas.openxmlformats.org/officeDocument/2006/relationships/tags" Target="../tags/tag29.xml"/><Relationship Id="rId61" Type="http://schemas.openxmlformats.org/officeDocument/2006/relationships/tags" Target="../tags/tag30.xml"/><Relationship Id="rId62" Type="http://schemas.openxmlformats.org/officeDocument/2006/relationships/tags" Target="../tags/tag31.xml"/><Relationship Id="rId63" Type="http://schemas.openxmlformats.org/officeDocument/2006/relationships/tags" Target="../tags/tag32.xml"/><Relationship Id="rId64" Type="http://schemas.openxmlformats.org/officeDocument/2006/relationships/tags" Target="../tags/tag33.xml"/><Relationship Id="rId65" Type="http://schemas.openxmlformats.org/officeDocument/2006/relationships/tags" Target="../tags/tag34.xml"/><Relationship Id="rId66" Type="http://schemas.openxmlformats.org/officeDocument/2006/relationships/tags" Target="../tags/tag35.xml"/><Relationship Id="rId67" Type="http://schemas.openxmlformats.org/officeDocument/2006/relationships/tags" Target="../tags/tag36.xml"/><Relationship Id="rId68" Type="http://schemas.openxmlformats.org/officeDocument/2006/relationships/tags" Target="../tags/tag37.xml"/><Relationship Id="rId69" Type="http://schemas.openxmlformats.org/officeDocument/2006/relationships/tags" Target="../tags/tag38.xml"/><Relationship Id="rId70" Type="http://schemas.openxmlformats.org/officeDocument/2006/relationships/tags" Target="../tags/tag39.xml"/><Relationship Id="rId71" Type="http://schemas.openxmlformats.org/officeDocument/2006/relationships/tags" Target="../tags/tag40.xml"/><Relationship Id="rId72" Type="http://schemas.openxmlformats.org/officeDocument/2006/relationships/tags" Target="../tags/tag41.xml"/><Relationship Id="rId73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4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38" r:id="rId27"/>
    <p:sldLayoutId id="2147484239" r:id="rId28"/>
    <p:sldLayoutId id="2147484240" r:id="rId29"/>
    <p:sldLayoutId id="2147484241" r:id="rId30"/>
    <p:sldLayoutId id="2147484242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Finding 1</a:t>
            </a:r>
          </a:p>
          <a:p>
            <a:pPr/>
            <a:r>
              <a:t>Finding 2</a:t>
            </a:r>
          </a:p>
          <a:p>
            <a:pPr/>
            <a:r>
              <a:t>Finding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7582</TotalTime>
  <Words>22630</Words>
  <Application>Microsoft Macintosh PowerPoint</Application>
  <PresentationFormat>Widescreen</PresentationFormat>
  <Paragraphs>4955</Paragraphs>
  <Slides>215</Slides>
  <Notes>102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215</vt:i4>
      </vt:variant>
    </vt:vector>
  </HeadingPairs>
  <TitlesOfParts>
    <vt:vector size="234" baseType="lpstr">
      <vt:lpstr>ＭＳ Ｐゴシック</vt:lpstr>
      <vt:lpstr>Arial</vt:lpstr>
      <vt:lpstr>Arial </vt:lpstr>
      <vt:lpstr>Calibri</vt:lpstr>
      <vt:lpstr>Georgia</vt:lpstr>
      <vt:lpstr>Helvetica Neue</vt:lpstr>
      <vt:lpstr>Josefin Sans</vt:lpstr>
      <vt:lpstr>Poppins</vt:lpstr>
      <vt:lpstr>Roboto Lt</vt:lpstr>
      <vt:lpstr>Segoe UI</vt:lpstr>
      <vt:lpstr>Times</vt:lpstr>
      <vt:lpstr>Times New Roman</vt:lpstr>
      <vt:lpstr>Trebuchet MS</vt:lpstr>
      <vt:lpstr>Ubuntu</vt:lpstr>
      <vt:lpstr>Verdana</vt:lpstr>
      <vt:lpstr>Wingdings</vt:lpstr>
      <vt:lpstr>Wingdings 2</vt:lpstr>
      <vt:lpstr>Slideworks</vt:lpstr>
      <vt:lpstr>think-cell Slide</vt:lpstr>
      <vt:lpstr>PowerPoint Presentation</vt:lpstr>
      <vt:lpstr>Objectives of this template</vt:lpstr>
      <vt:lpstr>Content of this template</vt:lpstr>
      <vt:lpstr>PowerPoint Presentation</vt:lpstr>
      <vt:lpstr>[Title of document]</vt:lpstr>
      <vt:lpstr>[Title of document]</vt:lpstr>
      <vt:lpstr>PowerPoint Presentation</vt:lpstr>
      <vt:lpstr>Content</vt:lpstr>
      <vt:lpstr>Executive summary</vt:lpstr>
      <vt:lpstr>Executive summary</vt:lpstr>
      <vt:lpstr>Executive summary</vt:lpstr>
      <vt:lpstr>Executive summary</vt:lpstr>
      <vt:lpstr>Summary of this document</vt:lpstr>
      <vt:lpstr>[Section]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[Column chart with historic and forecast figures / Insert action title]</vt:lpstr>
      <vt:lpstr>[Grouped column chart with takeaways / Insert action title]</vt:lpstr>
      <vt:lpstr>[Double column chart / Insert action title]</vt:lpstr>
      <vt:lpstr>[Double column chart / Insert action title]</vt:lpstr>
      <vt:lpstr>[Double column chart / Insert action title]</vt:lpstr>
      <vt:lpstr>[Column chart with additional information / Insert action title]</vt:lpstr>
      <vt:lpstr>[Multiple column charts / Insert action title]</vt:lpstr>
      <vt:lpstr>[Double stacked chart (%) / Insert action title]</vt:lpstr>
      <vt:lpstr>[Three bar charts slide / Insert action title]</vt:lpstr>
      <vt:lpstr>[Clustered column chart with takeaways/ Insert action title]</vt:lpstr>
      <vt:lpstr>[Clustered column chart with two metrics / Insert action title]</vt:lpstr>
      <vt:lpstr>[Stacked bar chart (%) / Insert action title]</vt:lpstr>
      <vt:lpstr>[Stacked bar chart (%) with extra metric / Insert action title]</vt:lpstr>
      <vt:lpstr>[Bar chart over time / Insert action title]</vt:lpstr>
      <vt:lpstr>[Bar chart with descriptions / Insert action title]</vt:lpstr>
      <vt:lpstr>[Bar chart with takeaways / Insert action title]</vt:lpstr>
      <vt:lpstr>[Stacked bar chart with takeaways / Insert action title]</vt:lpstr>
      <vt:lpstr>[Stacked bar chart (%) with takeaways / Insert action title]</vt:lpstr>
      <vt:lpstr>[Bar chart with illustration left / Insert action title]</vt:lpstr>
      <vt:lpstr>[Bar chart with illustration right / Insert action title]</vt:lpstr>
      <vt:lpstr>[Clustered bar chart with takeaways / Insert action title]</vt:lpstr>
      <vt:lpstr>[Grouped bar chart / Insert action title]</vt:lpstr>
      <vt:lpstr>[Bar chart comparing units / Insert action title]</vt:lpstr>
      <vt:lpstr>[Savings-investments bar chart / Insert action title]</vt:lpstr>
      <vt:lpstr>[Double stacked charts with insights / Insert action title]</vt:lpstr>
      <vt:lpstr>[Line graph / Insert action title]</vt:lpstr>
      <vt:lpstr>[Multiple line charts / Insert action title]</vt:lpstr>
      <vt:lpstr>[Line chart with two scenarios / Insert action title]</vt:lpstr>
      <vt:lpstr>[Line chart with three scenarios / Insert action title]</vt:lpstr>
      <vt:lpstr>[Line chart with two scenarios and gap analysis / Insert action title]</vt:lpstr>
      <vt:lpstr>[Line chart with highlights / Insert action title]</vt:lpstr>
      <vt:lpstr>[Line chart with icons / Insert action title]</vt:lpstr>
      <vt:lpstr>[Three line charts slide / Insert action title]</vt:lpstr>
      <vt:lpstr>[Waterfall chart / Insert action title]</vt:lpstr>
      <vt:lpstr>[Waterfall chart with highlights/ Insert action title]</vt:lpstr>
      <vt:lpstr>[Waterfall chart with additional metric / Insert action title]</vt:lpstr>
      <vt:lpstr>[Waterfall chart with two metrics / Insert action title]</vt:lpstr>
      <vt:lpstr>[Waterfall chart with takeaways / Insert action title]</vt:lpstr>
      <vt:lpstr>[Stacked waterfall / Insert action title]</vt:lpstr>
      <vt:lpstr>[Horizontal waterfall chart / Insert action title]</vt:lpstr>
      <vt:lpstr>[Horizontal waterfall chart with details / Insert action title]</vt:lpstr>
      <vt:lpstr>[Growth-share matrix / Insert action title] </vt:lpstr>
      <vt:lpstr>[Prioritization or assessment matrix / Insert action title]</vt:lpstr>
      <vt:lpstr>[Bubble chart / Insert action title]</vt:lpstr>
      <vt:lpstr>[Bubble chart with takeaways / Insert action title]</vt:lpstr>
      <vt:lpstr>[Scatter chart / Insert action title]</vt:lpstr>
      <vt:lpstr>[Scatter chart with takeaways / Insert action title]</vt:lpstr>
      <vt:lpstr>[Scatter chart with quadrants/ Insert action title]</vt:lpstr>
      <vt:lpstr>[Scatter chart with quadrants and takeaways / Insert action title]</vt:lpstr>
      <vt:lpstr>[Scatter chart with groupings / Insert action title]</vt:lpstr>
      <vt:lpstr>[Scatter chart with groupings and takeaways / Insert action title]</vt:lpstr>
      <vt:lpstr>[Single pie chart / Insert action title]</vt:lpstr>
      <vt:lpstr>[Double pie chart / Insert action title]</vt:lpstr>
      <vt:lpstr>Company represents [x]% of overall market with a leading position of [y]% in [segment]</vt:lpstr>
      <vt:lpstr>[Single doughnut chart / Insert action title]</vt:lpstr>
      <vt:lpstr>[Bar chart with line graph / Insert action title]</vt:lpstr>
      <vt:lpstr>[Two column graph slide / Insert action title]</vt:lpstr>
      <vt:lpstr>[Three column graph slide / Insert action title]</vt:lpstr>
      <vt:lpstr>[Four category Harvey Ball slide / Insert action title]</vt:lpstr>
      <vt:lpstr>[Five category Harvey Ball slide / Insert action title]</vt:lpstr>
      <vt:lpstr>[World map with Harvey Balls / Insert action title]</vt:lpstr>
      <vt:lpstr>[Three key trends slide / Insert action title]</vt:lpstr>
      <vt:lpstr>[Three key trends or areas slide / Insert action title]</vt:lpstr>
      <vt:lpstr>[Three key trends slide / Insert action title]</vt:lpstr>
      <vt:lpstr>[Three key trends slide / Insert action title]</vt:lpstr>
      <vt:lpstr>[Four key trends slide / Insert action title]</vt:lpstr>
      <vt:lpstr>[Four key trends slide / Insert action title]</vt:lpstr>
      <vt:lpstr>[Four key trends slide / Insert action title]</vt:lpstr>
      <vt:lpstr>[Four key trends slide / Insert action title]</vt:lpstr>
      <vt:lpstr>[Deep-dive on trend / Insert action title]</vt:lpstr>
      <vt:lpstr>[Five key trends slide / Insert action title]</vt:lpstr>
      <vt:lpstr>[Five key trends slide / Insert action title]</vt:lpstr>
      <vt:lpstr>[Five key areas slide / Insert action title]</vt:lpstr>
      <vt:lpstr>[Five key areas slide / Insert action title]</vt:lpstr>
      <vt:lpstr>[Five key areas slide / Insert action title]</vt:lpstr>
      <vt:lpstr>[Assessment or status overview / Insert action title]</vt:lpstr>
      <vt:lpstr>[Assessment or status overview / Insert action title]</vt:lpstr>
      <vt:lpstr>[Assessment or status overview / Insert action title]</vt:lpstr>
      <vt:lpstr>[Assessment or status overview / Insert action title]</vt:lpstr>
      <vt:lpstr>[Deep-dive on actions or initiatives / Insert action title]</vt:lpstr>
      <vt:lpstr>[Assessment or status overview / Insert action title]</vt:lpstr>
      <vt:lpstr>[Option evaluation slide / Insert action title]</vt:lpstr>
      <vt:lpstr>[Option evaluation slide / Insert action title]</vt:lpstr>
      <vt:lpstr>[Option evaluation slide for build – buy (or other dimensions) / Insert action title]</vt:lpstr>
      <vt:lpstr>[Assessment conclusion slide / Insert action title]</vt:lpstr>
      <vt:lpstr>[Competitor overview / Insert action title]</vt:lpstr>
      <vt:lpstr>[Competitor overview / Insert action title]</vt:lpstr>
      <vt:lpstr>[Competitor overview / Insert action title]</vt:lpstr>
      <vt:lpstr>[Competitor overview with heatmap / Insert action title]</vt:lpstr>
      <vt:lpstr>[Competitor overview / Insert action title]</vt:lpstr>
      <vt:lpstr>[Competitor positioning slide / Insert action title]</vt:lpstr>
      <vt:lpstr>[Competitor matrix slide / Insert action title]</vt:lpstr>
      <vt:lpstr>[Value proposition comparison slide / Insert action title]</vt:lpstr>
      <vt:lpstr>[Product comparison table, detailed / Insert action title]</vt:lpstr>
      <vt:lpstr>[Project or governance structure / Insert action title]</vt:lpstr>
      <vt:lpstr>[Organizational chart / Insert action title]</vt:lpstr>
      <vt:lpstr>[Project team / Insert action title]</vt:lpstr>
      <vt:lpstr>[Project team or functions / Insert action title]</vt:lpstr>
      <vt:lpstr>[Team chart / Insert action title]</vt:lpstr>
      <vt:lpstr>[Issue tree / Insert action title]</vt:lpstr>
      <vt:lpstr>[Decision tree / Insert action title]</vt:lpstr>
      <vt:lpstr>[Three state process slide / Insert action title]</vt:lpstr>
      <vt:lpstr>[Process overview / Insert action title]</vt:lpstr>
      <vt:lpstr>[Process overview with highlight / Insert action title]</vt:lpstr>
      <vt:lpstr>[Process overview / Insert action title]</vt:lpstr>
      <vt:lpstr>[Linear process overview / Insert action title]</vt:lpstr>
      <vt:lpstr>[Circular process overview / Insert action title]</vt:lpstr>
      <vt:lpstr>[Circular process overview / Insert action title]</vt:lpstr>
      <vt:lpstr>[Path overview / Insert action title]</vt:lpstr>
      <vt:lpstr>[Customer journey with pain points / Insert action title]</vt:lpstr>
      <vt:lpstr>[Customer journey with touchpoints / Insert action title]</vt:lpstr>
      <vt:lpstr>[Customer journey with touchpoints / Insert action title]</vt:lpstr>
      <vt:lpstr>[Hypothesis overview slide / Insert action title]</vt:lpstr>
      <vt:lpstr>[Hypothesis deep-dive slide / Insert action title]</vt:lpstr>
      <vt:lpstr>[Hypothesis evaluation slide / Insert action title]</vt:lpstr>
      <vt:lpstr>[M&amp;A target list slide / Insert action title]</vt:lpstr>
      <vt:lpstr>[M&amp;A comparison slide / Insert action title] </vt:lpstr>
      <vt:lpstr>[Synergy overview slide / Insert action title]</vt:lpstr>
      <vt:lpstr>[Three key strategic areas slide / Insert action title]</vt:lpstr>
      <vt:lpstr>[Initiatives or sub-points slide / Insert action title]</vt:lpstr>
      <vt:lpstr>[Overview of initiatives slide / Insert action title]</vt:lpstr>
      <vt:lpstr>[Initiatives or sub-points slide / Insert action title]</vt:lpstr>
      <vt:lpstr>We will start by [insert action] and then [insert action]</vt:lpstr>
      <vt:lpstr>[Overview of levers or actions and outcomes / Insert action title]</vt:lpstr>
      <vt:lpstr>[Findings and recommendations summary / Insert action title]</vt:lpstr>
      <vt:lpstr>[Challenges and solutions summary / Insert action title]</vt:lpstr>
      <vt:lpstr>[Challenges and solutions summary / Insert action title]</vt:lpstr>
      <vt:lpstr>[Customer analysis slide / Insert action title]</vt:lpstr>
      <vt:lpstr>[Customer needs slide / Insert action title]</vt:lpstr>
      <vt:lpstr>[Scenario slide with geos / Insert action title]</vt:lpstr>
      <vt:lpstr>[Five box text slide with key points / Insert action title]</vt:lpstr>
      <vt:lpstr>[Five box text slide with key points / Insert action title]</vt:lpstr>
      <vt:lpstr>[Honeycomb overview / Insert action title]</vt:lpstr>
      <vt:lpstr>[Maturity or level slide / Insert action title]</vt:lpstr>
      <vt:lpstr>[Overview of areas / Insert action title]</vt:lpstr>
      <vt:lpstr>[Project title] process expected to run [xx weeks/months]</vt:lpstr>
      <vt:lpstr>[Project] will evolve in three major phases</vt:lpstr>
      <vt:lpstr>[Project] will evolve through four main phases</vt:lpstr>
      <vt:lpstr>[Project] will be built in four main waves</vt:lpstr>
      <vt:lpstr>[Project] will evolve through four main phases</vt:lpstr>
      <vt:lpstr>High-level timeline for next [insert timeframe]</vt:lpstr>
      <vt:lpstr>[Project plan with status / Insert action title]</vt:lpstr>
      <vt:lpstr>Plan</vt:lpstr>
      <vt:lpstr>We plan to [insert milestone and timeline, if relevant]</vt:lpstr>
      <vt:lpstr>[Roadmap / Insert action title]</vt:lpstr>
      <vt:lpstr>[Simple timeline / Insert action title]</vt:lpstr>
      <vt:lpstr>We plan to roll out the initiatives over next xx [years/months]</vt:lpstr>
      <vt:lpstr>[Initiative] implementation plan</vt:lpstr>
      <vt:lpstr>[Overview of key meetings / Insert action title]</vt:lpstr>
      <vt:lpstr>[Decision hierarchy for project / Insert action title]</vt:lpstr>
      <vt:lpstr>Implementation roadmap: Framework for approach</vt:lpstr>
      <vt:lpstr>I. Key activities will be undertaken in xx phases</vt:lpstr>
      <vt:lpstr>II. Prioritization of [features/components/segments]</vt:lpstr>
      <vt:lpstr>II. Key considerations on planning and sequencing</vt:lpstr>
      <vt:lpstr>II. [Insert timeline description]</vt:lpstr>
      <vt:lpstr>II. Preliminary [timeline/sequence/roadmap]</vt:lpstr>
      <vt:lpstr>III. Capabilities of the core roles at [insert departments]</vt:lpstr>
      <vt:lpstr>III. Responsibilities of the support and optional roles</vt:lpstr>
      <vt:lpstr>IV. Possible organizational structure across [project/business x]</vt:lpstr>
      <vt:lpstr>V. Implementation is expected to roll out over the next xx [years/ months]</vt:lpstr>
      <vt:lpstr>Immediate next steps</vt:lpstr>
      <vt:lpstr>Focus for next [time period] will be [focus area]</vt:lpstr>
      <vt:lpstr>PowerPoint Presentation</vt:lpstr>
      <vt:lpstr>Profitability framework version 1</vt:lpstr>
      <vt:lpstr>Profitability framework version 2</vt:lpstr>
      <vt:lpstr>Profitability drivers</vt:lpstr>
      <vt:lpstr>Issue tree</vt:lpstr>
      <vt:lpstr>Value drivers and expected benefits</vt:lpstr>
      <vt:lpstr>McKinsey 7S Model</vt:lpstr>
      <vt:lpstr>Strategy House</vt:lpstr>
      <vt:lpstr>BCG Growth-Share Matrix</vt:lpstr>
      <vt:lpstr>GE (General Electric) McKinsey Matrix</vt:lpstr>
      <vt:lpstr>McKinsey Horizon Model: The Three Horizons of Growth</vt:lpstr>
      <vt:lpstr>McKinsey Horizon Model: The Three Horizons of Growth</vt:lpstr>
      <vt:lpstr>McKinsey’s Seven Degrees of Freedom for Growth</vt:lpstr>
      <vt:lpstr>BCG Growth/Transformation framework: Three levers for growth</vt:lpstr>
      <vt:lpstr>Business Model Canvas</vt:lpstr>
      <vt:lpstr>Value proposition</vt:lpstr>
      <vt:lpstr>SWOT analysis (version 1)</vt:lpstr>
      <vt:lpstr>SWOT analysis (version 2)</vt:lpstr>
      <vt:lpstr>SWOT analysis (version 3)</vt:lpstr>
      <vt:lpstr>PESTLE analysis (version 1)</vt:lpstr>
      <vt:lpstr>PESTLE analysis (version 2)</vt:lpstr>
      <vt:lpstr>Porter’s Five Forces</vt:lpstr>
      <vt:lpstr>Balanced Scorecard</vt:lpstr>
      <vt:lpstr>Product life cycle</vt:lpstr>
      <vt:lpstr>Strategy is the combination of objective, scope, and advantage</vt:lpstr>
      <vt:lpstr>Does your strategy pass these five criteria?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Alexandra Kampmann</cp:lastModifiedBy>
  <cp:revision>313</cp:revision>
  <dcterms:created xsi:type="dcterms:W3CDTF">2025-08-27T08:42:55Z</dcterms:created>
  <dcterms:modified xsi:type="dcterms:W3CDTF">2025-09-09T10:58:04Z</dcterms:modified>
  <cp:category>Management consulting, presentation design, business</cp:category>
</cp:coreProperties>
</file>